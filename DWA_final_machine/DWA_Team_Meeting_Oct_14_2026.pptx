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9" r:id="rId4"/>
  </p:sldMasterIdLst>
  <p:notesMasterIdLst>
    <p:notesMasterId r:id="rId14"/>
  </p:notesMasterIdLst>
  <p:handoutMasterIdLst>
    <p:handoutMasterId r:id="rId15"/>
  </p:handoutMasterIdLst>
  <p:sldIdLst>
    <p:sldId id="335" r:id="rId5"/>
    <p:sldId id="337" r:id="rId6"/>
    <p:sldId id="338" r:id="rId7"/>
    <p:sldId id="340" r:id="rId8"/>
    <p:sldId id="339" r:id="rId9"/>
    <p:sldId id="344" r:id="rId10"/>
    <p:sldId id="341" r:id="rId11"/>
    <p:sldId id="342" r:id="rId12"/>
    <p:sldId id="343" r:id="rId13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357" r:id="rId34"/>
    <p:sldId id="358" r:id="rId35"/>
    <p:sldId id="359" r:id="rId36"/>
    <p:sldId id="360" r:id="rId37"/>
    <p:sldId id="361" r:id="rId38"/>
    <p:sldId id="362" r:id="rId39"/>
    <p:sldId id="363" r:id="rId40"/>
    <p:sldId id="364" r:id="rId4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55D71C-AAC4-C7C6-AA25-60F0E4D2B1DF}" name="Hertha, Carolyn" initials="" userId="S::Carolyn.Hertha@uhn.ca::1bd331bc-d998-4c1f-b2f0-26271c0ae4fc" providerId="AD"/>
  <p188:author id="{BC294479-BFBF-3E1A-39B0-4DF2C3C99B69}" name="Naik, Nima" initials="NN" userId="S::nima.naik@uhn.ca::22958e7f-605c-4b41-9625-0b1515bd6245" providerId="AD"/>
  <p188:author id="{3FC723BA-353D-F76A-5902-907849CDD803}" name="Walton, Katherine" initials="WK" userId="S::katherine.walton@uhn.ca::9aa0ceff-1b79-417b-ac0e-7072ade7b7d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4E4"/>
    <a:srgbClr val="192958"/>
    <a:srgbClr val="D973FF"/>
    <a:srgbClr val="C0233C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1" dt="2026-10-01T19:21:51.992"/>
    <p1510:client id="{04AB82B9-B245-C783-ED74-160706D1BEC3}" v="38" dt="2026-10-01T20:07:46.703"/>
    <p1510:client id="{7148B435-C7C5-9320-F18F-587FA7AD1D7E}" v="596" dt="2026-10-01T19:14:37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Relationship Id="rId21" Type="http://schemas.microsoft.com/office/2018/10/relationships/authors" Target="authors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8773F8-B3AC-1476-4A5D-0633FE5F9D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F63587-518C-EADA-6214-25CC58EBFD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CB94D-A6C5-7748-842B-F6A16EADE21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43BA3-9080-6D84-B0E3-170488572B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B6130-6F12-EA03-5F48-CB67B9504B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9837C-86FE-5D4E-B4E4-26A3A495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014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CA7270-210B-1C4C-B4B7-7F2C289C1B6D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AA4A4-F983-6A40-915A-5856A92B7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42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9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9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9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9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purple background&#10;&#10;Description automatically generated">
            <a:extLst>
              <a:ext uri="{FF2B5EF4-FFF2-40B4-BE49-F238E27FC236}">
                <a16:creationId xmlns:a16="http://schemas.microsoft.com/office/drawing/2014/main" id="{C4AC5FAB-0FB8-4130-9B97-A42950E0C9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8365"/>
          <a:stretch/>
        </p:blipFill>
        <p:spPr>
          <a:xfrm>
            <a:off x="924" y="430306"/>
            <a:ext cx="9143075" cy="4713714"/>
          </a:xfrm>
          <a:prstGeom prst="rect">
            <a:avLst/>
          </a:prstGeom>
        </p:spPr>
      </p:pic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8AC92E2A-E0E9-2F3C-E3B8-140EF3162B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0919" y="3097784"/>
            <a:ext cx="4938712" cy="1358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Headline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BAA31C4-89DC-3759-2A76-89E42A73C7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919" y="4466088"/>
            <a:ext cx="4938712" cy="416302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Subheading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79A1DB9-C675-330F-AD53-938BF630DC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8863" y="285819"/>
            <a:ext cx="2743200" cy="578183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00" b="1">
                <a:solidFill>
                  <a:schemeClr val="bg1"/>
                </a:solidFill>
              </a:defRPr>
            </a:lvl1pPr>
            <a:lvl2pPr marL="342900" indent="0" algn="r">
              <a:buFontTx/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FontTx/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FontTx/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Optional: Department/Team/Division/ Project Name Goes Here (Line breaks are automatic)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F9FCAC-E28B-4B3A-4C0D-B53DF1DD37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381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graphic and Imag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and blue gradient&#10;&#10;Description automatically generated">
            <a:extLst>
              <a:ext uri="{FF2B5EF4-FFF2-40B4-BE49-F238E27FC236}">
                <a16:creationId xmlns:a16="http://schemas.microsoft.com/office/drawing/2014/main" id="{E6AEDFF2-BDDA-6751-F87C-D6687FF7F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4541"/>
          </a:xfrm>
          <a:prstGeom prst="rect">
            <a:avLst/>
          </a:prstGeom>
        </p:spPr>
      </p:pic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8AC92E2A-E0E9-2F3C-E3B8-140EF3162B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8" y="2107184"/>
            <a:ext cx="4938712" cy="1358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Headline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8BAA31C4-89DC-3759-2A76-89E42A73C7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475488"/>
            <a:ext cx="4938712" cy="416302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Subheading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17AB1C9C-9D96-893C-7186-15E6EC8234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8863" y="285819"/>
            <a:ext cx="2743200" cy="578183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00" b="1">
                <a:solidFill>
                  <a:schemeClr val="bg1"/>
                </a:solidFill>
              </a:defRPr>
            </a:lvl1pPr>
            <a:lvl2pPr marL="342900" indent="0" algn="r">
              <a:buFontTx/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FontTx/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FontTx/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Optional: Department/Team/Division/ Project Name Goes Here (Line breaks are automatic)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D65371-1960-4170-7B01-FCE79592A9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423647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red background&#10;&#10;Description automatically generated">
            <a:extLst>
              <a:ext uri="{FF2B5EF4-FFF2-40B4-BE49-F238E27FC236}">
                <a16:creationId xmlns:a16="http://schemas.microsoft.com/office/drawing/2014/main" id="{90F1A695-FCEC-5247-9A1B-A6EBBFDE8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" y="0"/>
            <a:ext cx="9142149" cy="51435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56C8E-561C-1617-44AE-AC33533329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832" y="1951282"/>
            <a:ext cx="6245225" cy="1323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CC928D9-B283-5140-3596-425458592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20DD23CE-9CC9-DEF9-21DA-1D6CF32624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8863" y="285819"/>
            <a:ext cx="2743200" cy="578183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00" b="1">
                <a:solidFill>
                  <a:schemeClr val="bg1"/>
                </a:solidFill>
              </a:defRPr>
            </a:lvl1pPr>
            <a:lvl2pPr marL="342900" indent="0" algn="r">
              <a:buFontTx/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FontTx/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FontTx/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Optional: Department/Team/Division/ Project Name Goes Here (Line breaks are automatic)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8769DD-5B57-0B8D-84E5-C8BA171E25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058353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graphic and Image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black background&#10;&#10;Description automatically generated">
            <a:extLst>
              <a:ext uri="{FF2B5EF4-FFF2-40B4-BE49-F238E27FC236}">
                <a16:creationId xmlns:a16="http://schemas.microsoft.com/office/drawing/2014/main" id="{E5EA0B70-6A12-19A9-043E-C15B5F27AFCC}"/>
              </a:ext>
            </a:extLst>
          </p:cNvPr>
          <p:cNvPicPr/>
          <p:nvPr userDrawn="1"/>
        </p:nvPicPr>
        <p:blipFill>
          <a:blip r:embed="rId2"/>
          <a:srcRect l="65581"/>
          <a:stretch/>
        </p:blipFill>
        <p:spPr>
          <a:xfrm>
            <a:off x="5996763" y="-521"/>
            <a:ext cx="3147236" cy="514454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828DD9-B029-DB8B-B800-478DC07B4C10}"/>
              </a:ext>
            </a:extLst>
          </p:cNvPr>
          <p:cNvSpPr txBox="1">
            <a:spLocks/>
          </p:cNvSpPr>
          <p:nvPr/>
        </p:nvSpPr>
        <p:spPr>
          <a:xfrm>
            <a:off x="163475" y="474311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 and Date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BCDF72-6B21-74F4-087B-3E2A4D4792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8" y="2107184"/>
            <a:ext cx="4938712" cy="1358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Headline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0F9664CA-B71D-1293-171A-7F5A5D98F1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475488"/>
            <a:ext cx="4938712" cy="416302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Subheading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5502F-577E-0A67-3D80-14E502EC5AA7}"/>
              </a:ext>
            </a:extLst>
          </p:cNvPr>
          <p:cNvSpPr txBox="1">
            <a:spLocks/>
          </p:cNvSpPr>
          <p:nvPr userDrawn="1"/>
        </p:nvSpPr>
        <p:spPr>
          <a:xfrm>
            <a:off x="163475" y="474311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 and Date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914B9C-8229-A586-53B4-46C0F27E63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87826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nly slide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D06B7-7F18-946C-1FEB-F463C6557E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0422" y="0"/>
            <a:ext cx="9164843" cy="5143500"/>
          </a:xfrm>
          <a:prstGeom prst="rect">
            <a:avLst/>
          </a:prstGeom>
          <a:gradFill>
            <a:gsLst>
              <a:gs pos="0">
                <a:schemeClr val="bg1"/>
              </a:gs>
              <a:gs pos="45000">
                <a:srgbClr val="E4E4E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blue and black background&#10;&#10;Description automatically generated">
            <a:extLst>
              <a:ext uri="{FF2B5EF4-FFF2-40B4-BE49-F238E27FC236}">
                <a16:creationId xmlns:a16="http://schemas.microsoft.com/office/drawing/2014/main" id="{26EC6E34-6905-11D6-954E-2287B748B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21"/>
            <a:ext cx="9143999" cy="51445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835216-EEE5-F5DF-500E-129A5D5A92CE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24E16BA-912E-5AF6-12FF-75AF284BD0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670" y="1197426"/>
            <a:ext cx="5117583" cy="33079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5117423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1">
            <a:extLst>
              <a:ext uri="{FF2B5EF4-FFF2-40B4-BE49-F238E27FC236}">
                <a16:creationId xmlns:a16="http://schemas.microsoft.com/office/drawing/2014/main" id="{91C9431C-EC58-5DC3-BB80-50EB100D3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25D4D7-BB27-81E6-C5F7-82B318711EC4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196DED-A8FD-5443-0B50-99EA337A96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20477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ic with text slide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D06B7-7F18-946C-1FEB-F463C6557E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0422" y="0"/>
            <a:ext cx="9164843" cy="5143500"/>
          </a:xfrm>
          <a:prstGeom prst="rect">
            <a:avLst/>
          </a:prstGeom>
          <a:gradFill>
            <a:gsLst>
              <a:gs pos="0">
                <a:schemeClr val="bg1"/>
              </a:gs>
              <a:gs pos="45000">
                <a:srgbClr val="E4E4E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blue and black background&#10;&#10;Description automatically generated">
            <a:extLst>
              <a:ext uri="{FF2B5EF4-FFF2-40B4-BE49-F238E27FC236}">
                <a16:creationId xmlns:a16="http://schemas.microsoft.com/office/drawing/2014/main" id="{26EC6E34-6905-11D6-954E-2287B748B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21"/>
            <a:ext cx="9143999" cy="51445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835216-EEE5-F5DF-500E-129A5D5A92CE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773A130-1688-0D30-D8E6-253ECBA3C2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670" y="1201566"/>
            <a:ext cx="2076450" cy="3303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Click to edit narrative statement.</a:t>
            </a:r>
            <a:endParaRPr lang="en-US"/>
          </a:p>
        </p:txBody>
      </p:sp>
      <p:sp>
        <p:nvSpPr>
          <p:cNvPr id="16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5117423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824E16BA-912E-5AF6-12FF-75AF284BD0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88103" y="1201566"/>
            <a:ext cx="2597150" cy="330561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19211D3B-DD5F-E4D2-6F87-B1FD61EED7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EAB918-8CB9-7735-DE06-6343FD1F8709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331F7B-693A-32FE-6CC7-FC1CE5F9F1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81024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ith graphic and Imag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white gradient&#10;&#10;Description automatically generated">
            <a:extLst>
              <a:ext uri="{FF2B5EF4-FFF2-40B4-BE49-F238E27FC236}">
                <a16:creationId xmlns:a16="http://schemas.microsoft.com/office/drawing/2014/main" id="{851BE158-6A48-A018-94B0-16268D2991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" y="0"/>
            <a:ext cx="9142149" cy="5143500"/>
          </a:xfrm>
          <a:prstGeom prst="rect">
            <a:avLst/>
          </a:prstGeom>
        </p:spPr>
      </p:pic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DBDA1A88-3B3F-96E0-78CC-4EC5B2807E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8" y="2107184"/>
            <a:ext cx="4938712" cy="1358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Headline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7A0520-C433-9DB8-49DF-46F45C9FF4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475488"/>
            <a:ext cx="4938712" cy="416302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Subheading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DB3C730-C3BC-55A7-EB9A-0EB1E92882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8863" y="285819"/>
            <a:ext cx="2743200" cy="578183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00" b="1">
                <a:solidFill>
                  <a:schemeClr val="bg1"/>
                </a:solidFill>
              </a:defRPr>
            </a:lvl1pPr>
            <a:lvl2pPr marL="342900" indent="0" algn="r">
              <a:buFontTx/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FontTx/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FontTx/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Optional: Department/Team/Division/ Project Name Goes Here (Line breaks are automatic)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92B8B1-2826-2CBC-D917-6ACC9B84AD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9244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- UH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background&#10;&#10;Description automatically generated">
            <a:extLst>
              <a:ext uri="{FF2B5EF4-FFF2-40B4-BE49-F238E27FC236}">
                <a16:creationId xmlns:a16="http://schemas.microsoft.com/office/drawing/2014/main" id="{1E29515F-E9B1-D580-5E12-36A1EE7F54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" y="0"/>
            <a:ext cx="9142149" cy="51435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56C8E-561C-1617-44AE-AC33533329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832" y="1951282"/>
            <a:ext cx="6245225" cy="1323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B7686F0-0AEB-9ACC-5CAE-80C1CD129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B20884F-7F57-4DBA-738C-3CFE8FD873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8863" y="285819"/>
            <a:ext cx="2743200" cy="578183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00" b="1">
                <a:solidFill>
                  <a:schemeClr val="tx1"/>
                </a:solidFill>
              </a:defRPr>
            </a:lvl1pPr>
            <a:lvl2pPr marL="342900" indent="0" algn="r">
              <a:buFontTx/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FontTx/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FontTx/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Optional: Department/Team/Division/ Project Name Goes Here (Line breaks are automatic)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F3C56F-CAFA-3B44-9369-351B59EAA8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21172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ith graphic and Image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4E86D1A-E281-4930-4876-3B64D8EA01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345"/>
          <a:stretch/>
        </p:blipFill>
        <p:spPr>
          <a:xfrm>
            <a:off x="5975498" y="-6532"/>
            <a:ext cx="3168501" cy="5144021"/>
          </a:xfrm>
          <a:prstGeom prst="rect">
            <a:avLst/>
          </a:prstGeom>
        </p:spPr>
      </p:pic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94DAE627-4FAC-99DB-4DF0-4DD03F5E16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8" y="2107184"/>
            <a:ext cx="4938712" cy="1358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Headline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444322FC-262F-73A1-6EFD-E3D3F1BFB1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475488"/>
            <a:ext cx="4938712" cy="416302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Subheading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3824D3-1490-EA3F-3D24-EB40742A03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3683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nly slide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D06B7-7F18-946C-1FEB-F463C6557E77}"/>
              </a:ext>
            </a:extLst>
          </p:cNvPr>
          <p:cNvSpPr/>
          <p:nvPr/>
        </p:nvSpPr>
        <p:spPr>
          <a:xfrm>
            <a:off x="-14409" y="0"/>
            <a:ext cx="9164843" cy="5143500"/>
          </a:xfrm>
          <a:prstGeom prst="rect">
            <a:avLst/>
          </a:prstGeom>
          <a:gradFill>
            <a:gsLst>
              <a:gs pos="0">
                <a:schemeClr val="bg1"/>
              </a:gs>
              <a:gs pos="45000">
                <a:srgbClr val="E4E4E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blue and black background&#10;&#10;Description automatically generated">
            <a:extLst>
              <a:ext uri="{FF2B5EF4-FFF2-40B4-BE49-F238E27FC236}">
                <a16:creationId xmlns:a16="http://schemas.microsoft.com/office/drawing/2014/main" id="{0C3A58B1-B694-955A-13C1-F766916F9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" y="-1"/>
            <a:ext cx="9149509" cy="5147641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4E16BA-912E-5AF6-12FF-75AF284BD0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670" y="1197426"/>
            <a:ext cx="5117583" cy="33079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0BC6E1-4BC4-3445-9090-BED417C7BF0E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5117423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0F3A8992-68CA-7FEE-C3E0-B67EE4013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3C040-09C2-E8F3-7E73-A3AE87FE3B82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048D35-0B0B-4012-69C0-F06C2369FC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4909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ic with text slide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D06B7-7F18-946C-1FEB-F463C6557E77}"/>
              </a:ext>
            </a:extLst>
          </p:cNvPr>
          <p:cNvSpPr/>
          <p:nvPr/>
        </p:nvSpPr>
        <p:spPr>
          <a:xfrm>
            <a:off x="-14409" y="0"/>
            <a:ext cx="9164843" cy="5143500"/>
          </a:xfrm>
          <a:prstGeom prst="rect">
            <a:avLst/>
          </a:prstGeom>
          <a:gradFill>
            <a:gsLst>
              <a:gs pos="0">
                <a:schemeClr val="bg1"/>
              </a:gs>
              <a:gs pos="45000">
                <a:srgbClr val="E4E4E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blue and black background&#10;&#10;Description automatically generated">
            <a:extLst>
              <a:ext uri="{FF2B5EF4-FFF2-40B4-BE49-F238E27FC236}">
                <a16:creationId xmlns:a16="http://schemas.microsoft.com/office/drawing/2014/main" id="{0C3A58B1-B694-955A-13C1-F766916F9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" y="-1"/>
            <a:ext cx="9149509" cy="51476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0BC6E1-4BC4-3445-9090-BED417C7BF0E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73A130-1688-0D30-D8E6-253ECBA3C2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670" y="1201566"/>
            <a:ext cx="2076450" cy="3303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Click to edit narrative statement.</a:t>
            </a:r>
            <a:endParaRPr lang="en-US"/>
          </a:p>
        </p:txBody>
      </p:sp>
      <p:sp>
        <p:nvSpPr>
          <p:cNvPr id="14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5117423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824E16BA-912E-5AF6-12FF-75AF284BD0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88103" y="1201566"/>
            <a:ext cx="2597150" cy="330561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8AB15B6D-BF68-0777-AE07-B31465231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BF401B-312F-D00F-AB2F-518CCA1243F6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32CB4-1970-D3C9-3875-B2F6D588BF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821348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- with graphic and Imag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purple gradient with a shadow&#10;&#10;Description automatically generated">
            <a:extLst>
              <a:ext uri="{FF2B5EF4-FFF2-40B4-BE49-F238E27FC236}">
                <a16:creationId xmlns:a16="http://schemas.microsoft.com/office/drawing/2014/main" id="{13A2A33E-6D61-684D-3C6C-BC1D0E07A0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" y="-1"/>
            <a:ext cx="9143075" cy="5144021"/>
          </a:xfrm>
          <a:prstGeom prst="rect">
            <a:avLst/>
          </a:prstGeom>
        </p:spPr>
      </p:pic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8AC92E2A-E0E9-2F3C-E3B8-140EF3162B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8" y="2107184"/>
            <a:ext cx="4938712" cy="1358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Headline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8BAA31C4-89DC-3759-2A76-89E42A73C7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475488"/>
            <a:ext cx="4938712" cy="416302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Subheading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17AB1C9C-9D96-893C-7186-15E6EC8234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8863" y="285819"/>
            <a:ext cx="2743200" cy="578183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00" b="1">
                <a:solidFill>
                  <a:schemeClr val="bg1"/>
                </a:solidFill>
              </a:defRPr>
            </a:lvl1pPr>
            <a:lvl2pPr marL="342900" indent="0" algn="r">
              <a:buFontTx/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FontTx/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FontTx/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Optional: Department/Team/Division/ Project Name Goes Here (Line breaks are automatic)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241D6E-B667-1455-4718-19C2D99BD7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354697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Title - Lila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purple rectangle&#10;&#10;Description automatically generated">
            <a:extLst>
              <a:ext uri="{FF2B5EF4-FFF2-40B4-BE49-F238E27FC236}">
                <a16:creationId xmlns:a16="http://schemas.microsoft.com/office/drawing/2014/main" id="{2A6D3CEE-C659-C9CA-1C6F-BE91F38C18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" y="-1"/>
            <a:ext cx="9143075" cy="514402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56C8E-561C-1617-44AE-AC33533329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832" y="1951282"/>
            <a:ext cx="6245225" cy="1323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CC928D9-B283-5140-3596-425458592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20DD23CE-9CC9-DEF9-21DA-1D6CF32624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8863" y="285819"/>
            <a:ext cx="2743200" cy="578183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00" b="1">
                <a:solidFill>
                  <a:schemeClr val="bg1"/>
                </a:solidFill>
              </a:defRPr>
            </a:lvl1pPr>
            <a:lvl2pPr marL="342900" indent="0" algn="r">
              <a:buFontTx/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FontTx/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FontTx/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Optional: Department/Team/Division/ Project Name Goes Here (Line breaks are automatic)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F68510-7A5E-6AB6-E561-D3D575DF26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286259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Only slide-Lila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D06B7-7F18-946C-1FEB-F463C6557E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0422" y="0"/>
            <a:ext cx="9164843" cy="5143500"/>
          </a:xfrm>
          <a:prstGeom prst="rect">
            <a:avLst/>
          </a:prstGeom>
          <a:gradFill>
            <a:gsLst>
              <a:gs pos="0">
                <a:schemeClr val="bg1"/>
              </a:gs>
              <a:gs pos="45000">
                <a:srgbClr val="E4E4E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ue and black background&#10;&#10;Description automatically generated">
            <a:extLst>
              <a:ext uri="{FF2B5EF4-FFF2-40B4-BE49-F238E27FC236}">
                <a16:creationId xmlns:a16="http://schemas.microsoft.com/office/drawing/2014/main" id="{7C752F09-B790-5D74-6E72-6EA4B48C86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" y="-1"/>
            <a:ext cx="9143075" cy="51440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835216-EEE5-F5DF-500E-129A5D5A92CE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24E16BA-912E-5AF6-12FF-75AF284BD0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670" y="1197426"/>
            <a:ext cx="5117583" cy="33079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5117423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1">
            <a:extLst>
              <a:ext uri="{FF2B5EF4-FFF2-40B4-BE49-F238E27FC236}">
                <a16:creationId xmlns:a16="http://schemas.microsoft.com/office/drawing/2014/main" id="{91C9431C-EC58-5DC3-BB80-50EB100D3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121357-3A69-26B6-71B8-572645206BE9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64C02D-1917-4A84-5B3B-79B901188A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32521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 - with graphic and Imag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rectangle with a shadow&#10;&#10;Description automatically generated">
            <a:extLst>
              <a:ext uri="{FF2B5EF4-FFF2-40B4-BE49-F238E27FC236}">
                <a16:creationId xmlns:a16="http://schemas.microsoft.com/office/drawing/2014/main" id="{3534B0E0-A7C5-6864-D9A1-06B8C136C2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" y="-1"/>
            <a:ext cx="9143075" cy="5144021"/>
          </a:xfrm>
          <a:prstGeom prst="rect">
            <a:avLst/>
          </a:prstGeom>
        </p:spPr>
      </p:pic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8AC92E2A-E0E9-2F3C-E3B8-140EF3162B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8" y="2107184"/>
            <a:ext cx="4938712" cy="1358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Headline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8BAA31C4-89DC-3759-2A76-89E42A73C7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475488"/>
            <a:ext cx="4938712" cy="416302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Subheading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17AB1C9C-9D96-893C-7186-15E6EC8234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8863" y="285819"/>
            <a:ext cx="2743200" cy="578183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00" b="1">
                <a:solidFill>
                  <a:schemeClr val="bg1"/>
                </a:solidFill>
              </a:defRPr>
            </a:lvl1pPr>
            <a:lvl2pPr marL="342900" indent="0" algn="r">
              <a:buFontTx/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FontTx/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FontTx/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Optional: Department/Team/Division/ Project Name Goes Here (Line breaks are automatic)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EE4CD1-58B1-8A13-5A92-F6F962CE8A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02771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- Cob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background with a light&#10;&#10;Description automatically generated">
            <a:extLst>
              <a:ext uri="{FF2B5EF4-FFF2-40B4-BE49-F238E27FC236}">
                <a16:creationId xmlns:a16="http://schemas.microsoft.com/office/drawing/2014/main" id="{60EF6546-DB4F-9D70-E094-C90929F82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" y="-1"/>
            <a:ext cx="9143075" cy="514402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56C8E-561C-1617-44AE-AC33533329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832" y="1951282"/>
            <a:ext cx="6245225" cy="1323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CC928D9-B283-5140-3596-425458592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20DD23CE-9CC9-DEF9-21DA-1D6CF32624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8863" y="285819"/>
            <a:ext cx="2743200" cy="578183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00" b="1">
                <a:solidFill>
                  <a:schemeClr val="bg1"/>
                </a:solidFill>
              </a:defRPr>
            </a:lvl1pPr>
            <a:lvl2pPr marL="342900" indent="0" algn="r">
              <a:buFontTx/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FontTx/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FontTx/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Optional: Department/Team/Division/ Project Name Goes Here (Line breaks are automatic)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D87589-7502-69F9-4F6E-D6D9FFE15E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27335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Only slide-Cob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D06B7-7F18-946C-1FEB-F463C6557E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0422" y="0"/>
            <a:ext cx="9164843" cy="5143500"/>
          </a:xfrm>
          <a:prstGeom prst="rect">
            <a:avLst/>
          </a:prstGeom>
          <a:gradFill>
            <a:gsLst>
              <a:gs pos="0">
                <a:schemeClr val="bg1"/>
              </a:gs>
              <a:gs pos="45000">
                <a:srgbClr val="E4E4E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blue and black background&#10;&#10;Description automatically generated">
            <a:extLst>
              <a:ext uri="{FF2B5EF4-FFF2-40B4-BE49-F238E27FC236}">
                <a16:creationId xmlns:a16="http://schemas.microsoft.com/office/drawing/2014/main" id="{9C0965CC-BDEC-E02B-81D5-074B068962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" y="-1"/>
            <a:ext cx="9143075" cy="51440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835216-EEE5-F5DF-500E-129A5D5A92CE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24E16BA-912E-5AF6-12FF-75AF284BD0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670" y="1197426"/>
            <a:ext cx="5117583" cy="33079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5117423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1">
            <a:extLst>
              <a:ext uri="{FF2B5EF4-FFF2-40B4-BE49-F238E27FC236}">
                <a16:creationId xmlns:a16="http://schemas.microsoft.com/office/drawing/2014/main" id="{91C9431C-EC58-5DC3-BB80-50EB100D3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121357-3A69-26B6-71B8-572645206BE9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550636-8C23-C4DC-CB21-AB562EF13D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34353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- with graphic and Imag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green gradient&#10;&#10;Description automatically generated">
            <a:extLst>
              <a:ext uri="{FF2B5EF4-FFF2-40B4-BE49-F238E27FC236}">
                <a16:creationId xmlns:a16="http://schemas.microsoft.com/office/drawing/2014/main" id="{22392D5E-21F7-A9FE-D7E5-52273A9292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" y="-1"/>
            <a:ext cx="9143075" cy="5144021"/>
          </a:xfrm>
          <a:prstGeom prst="rect">
            <a:avLst/>
          </a:prstGeom>
        </p:spPr>
      </p:pic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8AC92E2A-E0E9-2F3C-E3B8-140EF3162B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8" y="2107184"/>
            <a:ext cx="4938712" cy="1358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Headline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8BAA31C4-89DC-3759-2A76-89E42A73C7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475488"/>
            <a:ext cx="4938712" cy="416302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Subheading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17AB1C9C-9D96-893C-7186-15E6EC8234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8863" y="285819"/>
            <a:ext cx="2743200" cy="578183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00" b="1">
                <a:solidFill>
                  <a:schemeClr val="bg1"/>
                </a:solidFill>
              </a:defRPr>
            </a:lvl1pPr>
            <a:lvl2pPr marL="342900" indent="0" algn="r">
              <a:buFontTx/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FontTx/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FontTx/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Optional: Department/Team/Division/ Project Name Goes Here (Line breaks are automatic)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25BCC6-6360-734C-CDBF-700EB42EFA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27067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Title - Chartre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green background&#10;&#10;Description automatically generated">
            <a:extLst>
              <a:ext uri="{FF2B5EF4-FFF2-40B4-BE49-F238E27FC236}">
                <a16:creationId xmlns:a16="http://schemas.microsoft.com/office/drawing/2014/main" id="{E16DD489-64B7-3C9A-97EE-FFBC6B682A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" y="-1"/>
            <a:ext cx="9143075" cy="514402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56C8E-561C-1617-44AE-AC33533329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832" y="1951282"/>
            <a:ext cx="6245225" cy="1323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CC928D9-B283-5140-3596-425458592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20DD23CE-9CC9-DEF9-21DA-1D6CF32624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8863" y="285819"/>
            <a:ext cx="2743200" cy="578183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00" b="1">
                <a:solidFill>
                  <a:schemeClr val="bg1"/>
                </a:solidFill>
              </a:defRPr>
            </a:lvl1pPr>
            <a:lvl2pPr marL="342900" indent="0" algn="r">
              <a:buFontTx/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FontTx/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FontTx/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Optional: Department/Team/Division/ Project Name Goes Here (Line breaks are automatic)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F85AB1-BA3F-8110-AF9D-A490C65E787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379644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Only slide-Chartre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D06B7-7F18-946C-1FEB-F463C6557E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0422" y="0"/>
            <a:ext cx="9164843" cy="5143500"/>
          </a:xfrm>
          <a:prstGeom prst="rect">
            <a:avLst/>
          </a:prstGeom>
          <a:gradFill>
            <a:gsLst>
              <a:gs pos="0">
                <a:schemeClr val="bg1"/>
              </a:gs>
              <a:gs pos="45000">
                <a:srgbClr val="E4E4E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black background&#10;&#10;Description automatically generated">
            <a:extLst>
              <a:ext uri="{FF2B5EF4-FFF2-40B4-BE49-F238E27FC236}">
                <a16:creationId xmlns:a16="http://schemas.microsoft.com/office/drawing/2014/main" id="{819D93EB-EF22-E177-FB8A-236AB5860D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" y="-1"/>
            <a:ext cx="9143075" cy="51440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835216-EEE5-F5DF-500E-129A5D5A92CE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24E16BA-912E-5AF6-12FF-75AF284BD0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670" y="1197426"/>
            <a:ext cx="5117583" cy="33079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5117423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1">
            <a:extLst>
              <a:ext uri="{FF2B5EF4-FFF2-40B4-BE49-F238E27FC236}">
                <a16:creationId xmlns:a16="http://schemas.microsoft.com/office/drawing/2014/main" id="{91C9431C-EC58-5DC3-BB80-50EB100D3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121357-3A69-26B6-71B8-572645206BE9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6D213D-59C1-ED20-A5D3-137C456001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7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36118"/>
      </p:ext>
    </p:extLst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graphic and Image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-up of a black background&#10;&#10;Description automatically generated">
            <a:extLst>
              <a:ext uri="{FF2B5EF4-FFF2-40B4-BE49-F238E27FC236}">
                <a16:creationId xmlns:a16="http://schemas.microsoft.com/office/drawing/2014/main" id="{8D6B4F74-F548-A4C0-8041-F69B34715B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5891"/>
          <a:stretch/>
        </p:blipFill>
        <p:spPr>
          <a:xfrm>
            <a:off x="6025116" y="-1041"/>
            <a:ext cx="3118883" cy="5144541"/>
          </a:xfrm>
          <a:prstGeom prst="rect">
            <a:avLst/>
          </a:prstGeom>
        </p:spPr>
      </p:pic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C242420-8E52-35C9-2D7C-5124A3334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8" y="2107184"/>
            <a:ext cx="4938712" cy="1358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Headline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BAB4A8C-B84E-6A7A-87EA-39233476D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475488"/>
            <a:ext cx="4938712" cy="416302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Subheading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4C8C21F-08DA-C36C-4FBA-78F084D0DC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8863" y="285819"/>
            <a:ext cx="2743200" cy="578183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00" b="1">
                <a:solidFill>
                  <a:schemeClr val="tx1"/>
                </a:solidFill>
              </a:defRPr>
            </a:lvl1pPr>
            <a:lvl2pPr marL="342900" indent="0" algn="r">
              <a:buFontTx/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FontTx/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FontTx/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Optional: Department/Team/Division/ Project Name Goes Here (Line breaks are automatic)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A98B9E-172E-E89A-BF62-265FF7AF2C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144196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nly slide-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D06B7-7F18-946C-1FEB-F463C6557E77}"/>
              </a:ext>
            </a:extLst>
          </p:cNvPr>
          <p:cNvSpPr/>
          <p:nvPr userDrawn="1"/>
        </p:nvSpPr>
        <p:spPr>
          <a:xfrm rot="10800000">
            <a:off x="-10422" y="0"/>
            <a:ext cx="9164843" cy="5143500"/>
          </a:xfrm>
          <a:prstGeom prst="rect">
            <a:avLst/>
          </a:prstGeom>
          <a:gradFill>
            <a:gsLst>
              <a:gs pos="0">
                <a:schemeClr val="bg1"/>
              </a:gs>
              <a:gs pos="45000">
                <a:srgbClr val="E4E4E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close-up of a black background&#10;&#10;Description automatically generated">
            <a:extLst>
              <a:ext uri="{FF2B5EF4-FFF2-40B4-BE49-F238E27FC236}">
                <a16:creationId xmlns:a16="http://schemas.microsoft.com/office/drawing/2014/main" id="{C0894FE9-6BA1-6A2F-1FC0-6E8FB3CC5D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97" y="0"/>
            <a:ext cx="9154421" cy="51504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ED08B4-4B55-7477-45A4-040A0F59B258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24E16BA-912E-5AF6-12FF-75AF284BD0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670" y="1197426"/>
            <a:ext cx="5117583" cy="33079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5117423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81D4C146-F9F3-A07D-B0F0-378C21A35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22A0B1-6881-B0B0-852B-043907CF7A02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71B893-67D0-B4F3-4B46-1DD836F5E0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21271"/>
      </p:ext>
    </p:extLst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Graphic with text slide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D06B7-7F18-946C-1FEB-F463C6557E77}"/>
              </a:ext>
            </a:extLst>
          </p:cNvPr>
          <p:cNvSpPr/>
          <p:nvPr/>
        </p:nvSpPr>
        <p:spPr>
          <a:xfrm rot="10800000">
            <a:off x="-10422" y="0"/>
            <a:ext cx="9164843" cy="5143500"/>
          </a:xfrm>
          <a:prstGeom prst="rect">
            <a:avLst/>
          </a:prstGeom>
          <a:gradFill>
            <a:gsLst>
              <a:gs pos="0">
                <a:schemeClr val="bg1"/>
              </a:gs>
              <a:gs pos="45000">
                <a:srgbClr val="E4E4E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close-up of a black background&#10;&#10;Description automatically generated">
            <a:extLst>
              <a:ext uri="{FF2B5EF4-FFF2-40B4-BE49-F238E27FC236}">
                <a16:creationId xmlns:a16="http://schemas.microsoft.com/office/drawing/2014/main" id="{C0894FE9-6BA1-6A2F-1FC0-6E8FB3CC5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7" y="0"/>
            <a:ext cx="9154421" cy="51504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ED08B4-4B55-7477-45A4-040A0F59B258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773A130-1688-0D30-D8E6-253ECBA3C2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670" y="1201566"/>
            <a:ext cx="2076450" cy="3303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Click to edit narrative statement.</a:t>
            </a:r>
            <a:endParaRPr lang="en-US"/>
          </a:p>
        </p:txBody>
      </p:sp>
      <p:sp>
        <p:nvSpPr>
          <p:cNvPr id="21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5117423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824E16BA-912E-5AF6-12FF-75AF284BD0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88103" y="1201566"/>
            <a:ext cx="2597150" cy="330561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7C2355F7-1CEA-7203-10F2-1DBEA2D9A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B8CBC-24EC-1A0F-81B3-45A8E5FFDA7E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70D56-D9C4-030C-FA86-637ADB153C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3313"/>
      </p:ext>
    </p:extLst>
  </p:cSld>
  <p:clrMapOvr>
    <a:masterClrMapping/>
  </p:clrMapOvr>
  <p:hf sldNum="0"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- Neutral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and grey background&#10;&#10;Description automatically generated">
            <a:extLst>
              <a:ext uri="{FF2B5EF4-FFF2-40B4-BE49-F238E27FC236}">
                <a16:creationId xmlns:a16="http://schemas.microsoft.com/office/drawing/2014/main" id="{88E5314D-7DE3-6754-84F4-5C5CA12C9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" y="-1"/>
            <a:ext cx="9143076" cy="5144022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B3680002-78E6-D1ED-8FDA-2ACE96C6D2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832" y="1951282"/>
            <a:ext cx="6245225" cy="1323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C439F889-AAA4-2419-2333-D2B383FCE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CFD1D49-E925-FD9D-D7DD-BC7372C362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8863" y="285819"/>
            <a:ext cx="2743200" cy="578183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00" b="1">
                <a:solidFill>
                  <a:schemeClr val="tx1"/>
                </a:solidFill>
              </a:defRPr>
            </a:lvl1pPr>
            <a:lvl2pPr marL="342900" indent="0" algn="r">
              <a:buFontTx/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FontTx/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FontTx/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Optional: Department/Team/Division/ Project Name Goes Here (Line breaks are automatic)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C04A54-525E-50B2-9152-B66C5FFE5D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40357"/>
      </p:ext>
    </p:extLst>
  </p:cSld>
  <p:clrMapOvr>
    <a:masterClrMapping/>
  </p:clrMapOvr>
  <p:hf sldNum="0"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 - 1 text and content block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and grey background&#10;&#10;Description automatically generated">
            <a:extLst>
              <a:ext uri="{FF2B5EF4-FFF2-40B4-BE49-F238E27FC236}">
                <a16:creationId xmlns:a16="http://schemas.microsoft.com/office/drawing/2014/main" id="{42591D80-5D27-1158-8E87-650302D13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" y="0"/>
            <a:ext cx="9156010" cy="51512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01E741-1892-707F-D68A-AF489E9BD480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A28E2CF-C93F-87D0-9723-7A8A960CFA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37429" y="3116300"/>
            <a:ext cx="5417102" cy="145275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76713CB-F4E0-FDDB-9FC3-2B67B7293BD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937429" y="1197426"/>
            <a:ext cx="5417102" cy="1823387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70" y="369049"/>
            <a:ext cx="5662455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4ECFAEC-1BD8-C17F-6B35-46AB318554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670" y="1197426"/>
            <a:ext cx="1918480" cy="33431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Click to edit narrative statement.</a:t>
            </a:r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82FA626-50CF-74DC-F421-8FF1B824A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4A90C-56EC-CBD1-3CC0-8A5BE785F23C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4BD2A4-156C-FCDB-2F78-0FC5D6993D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60248"/>
      </p:ext>
    </p:extLst>
  </p:cSld>
  <p:clrMapOvr>
    <a:masterClrMapping/>
  </p:clrMapOvr>
  <p:hf sldNum="0"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 - 2 text and content blocks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white and grey background&#10;&#10;Description automatically generated">
            <a:extLst>
              <a:ext uri="{FF2B5EF4-FFF2-40B4-BE49-F238E27FC236}">
                <a16:creationId xmlns:a16="http://schemas.microsoft.com/office/drawing/2014/main" id="{FF64DE2B-177C-FBCE-59BB-BCABD6C4F1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527" y="0"/>
            <a:ext cx="9155527" cy="51510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35DCFD-1ECA-8F08-931A-40FD1A282CFA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BF4F274-8194-296B-DCD8-ED29376A8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37429" y="3015213"/>
            <a:ext cx="2708628" cy="151905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E220FF85-1505-E358-7697-2DF24025BBF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937429" y="1197427"/>
            <a:ext cx="2708628" cy="172229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40084FC-360E-106B-5058-A766041BA1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66115" y="3015213"/>
            <a:ext cx="2708628" cy="151905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86DC2008-33A7-7872-7522-71340008A7F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666115" y="1197427"/>
            <a:ext cx="2708628" cy="172229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70" y="369049"/>
            <a:ext cx="5662455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4ECFAEC-1BD8-C17F-6B35-46AB318554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670" y="1197426"/>
            <a:ext cx="1918480" cy="33431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Click to edit narrative statement.</a:t>
            </a:r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5DB0A3-05E5-3AFF-BAA5-390D34FB4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0513E5-FEDE-155D-95F9-499BBFF2B4B4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009F45-822E-F53C-528E-086DE6DC63E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51032"/>
      </p:ext>
    </p:extLst>
  </p:cSld>
  <p:clrMapOvr>
    <a:masterClrMapping/>
  </p:clrMapOvr>
  <p:hf sldNum="0"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 - text and content bloc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and grey background&#10;&#10;Description automatically generated">
            <a:extLst>
              <a:ext uri="{FF2B5EF4-FFF2-40B4-BE49-F238E27FC236}">
                <a16:creationId xmlns:a16="http://schemas.microsoft.com/office/drawing/2014/main" id="{E17DD182-D641-2326-6110-9E1864524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" y="-1"/>
            <a:ext cx="9143075" cy="51440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834E91-0FA3-BCAE-79E8-58B758FE76BC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Title 10">
            <a:extLst>
              <a:ext uri="{FF2B5EF4-FFF2-40B4-BE49-F238E27FC236}">
                <a16:creationId xmlns:a16="http://schemas.microsoft.com/office/drawing/2014/main" id="{99E7EACA-F09A-F3CC-930F-5BFA8917A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70" y="355567"/>
            <a:ext cx="2632420" cy="993775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8CD02E84-73E9-7E0B-E64C-A19FE85D46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6274" y="355567"/>
            <a:ext cx="5509895" cy="6365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71550" indent="-2857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1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add plain text.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14ECFAEC-1BD8-C17F-6B35-46AB318554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670" y="1434607"/>
            <a:ext cx="1901434" cy="3021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Click to edit narrative statement.</a:t>
            </a:r>
            <a:endParaRPr lang="en-US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7565E23A-30B8-26B3-6DB6-47D44F8B385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166273" y="1434606"/>
            <a:ext cx="5509895" cy="3021003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8D20AC-6678-4F06-996A-BF5C9D1A7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747D0-11E9-168A-A173-70FA28061525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80B23-03D6-017C-A4CB-D3CA5969EA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894837"/>
      </p:ext>
    </p:extLst>
  </p:cSld>
  <p:clrMapOvr>
    <a:masterClrMapping/>
  </p:clrMapOvr>
  <p:hf sldNum="0"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graphic-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630614-BDE8-CD7B-1CE1-75D8F3B5F528}"/>
              </a:ext>
            </a:extLst>
          </p:cNvPr>
          <p:cNvSpPr/>
          <p:nvPr userDrawn="1"/>
        </p:nvSpPr>
        <p:spPr>
          <a:xfrm>
            <a:off x="-4365" y="2261191"/>
            <a:ext cx="9148366" cy="2882309"/>
          </a:xfrm>
          <a:prstGeom prst="rect">
            <a:avLst/>
          </a:prstGeom>
          <a:gradFill>
            <a:gsLst>
              <a:gs pos="36000">
                <a:srgbClr val="F2F2F2"/>
              </a:gs>
              <a:gs pos="0">
                <a:schemeClr val="bg1">
                  <a:alpha val="0"/>
                </a:schemeClr>
              </a:gs>
              <a:gs pos="70000">
                <a:srgbClr val="E4E4E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FA8461F9-752F-BEF3-2EF3-11C406E5A6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8" y="3216596"/>
            <a:ext cx="4938712" cy="1358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Headline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FB6127BB-B11A-4406-7479-B58A81E855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584900"/>
            <a:ext cx="4938712" cy="416302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192958"/>
                </a:solidFill>
                <a:latin typeface="+mn-lt"/>
              </a:defRPr>
            </a:lvl1pPr>
          </a:lstStyle>
          <a:p>
            <a:r>
              <a:rPr lang="en-US"/>
              <a:t>Click to edit Subheading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6147CC9-DF89-DB8C-9131-2ABD55DCE1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8863" y="285819"/>
            <a:ext cx="2743200" cy="578183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00" b="1">
                <a:solidFill>
                  <a:schemeClr val="tx1"/>
                </a:solidFill>
              </a:defRPr>
            </a:lvl1pPr>
            <a:lvl2pPr marL="342900" indent="0" algn="r">
              <a:buFontTx/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FontTx/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FontTx/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Optional: Department/Team/Division/ Project Name Goes Here (Line breaks are automatic)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5E778D-4F8A-4AC5-0177-D2C79D161A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73035"/>
      </p:ext>
    </p:extLst>
  </p:cSld>
  <p:clrMapOvr>
    <a:masterClrMapping/>
  </p:clrMapOvr>
  <p:hf sldNum="0"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- Neutral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and black background&#10;&#10;Description automatically generated">
            <a:extLst>
              <a:ext uri="{FF2B5EF4-FFF2-40B4-BE49-F238E27FC236}">
                <a16:creationId xmlns:a16="http://schemas.microsoft.com/office/drawing/2014/main" id="{91D2EBE5-945E-B436-9D25-1F87AE4EE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2149" cy="5143500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B3680002-78E6-D1ED-8FDA-2ACE96C6D2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832" y="1951282"/>
            <a:ext cx="6245225" cy="1323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8B13626-96D0-5C99-AC45-806BE7273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006117A-9FB3-E7BE-3BAE-02F4290A42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8863" y="285819"/>
            <a:ext cx="2743200" cy="578183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00" b="1">
                <a:solidFill>
                  <a:schemeClr val="tx1"/>
                </a:solidFill>
              </a:defRPr>
            </a:lvl1pPr>
            <a:lvl2pPr marL="342900" indent="0" algn="r">
              <a:buFontTx/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FontTx/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FontTx/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Optional: Department/Team/Division/ Project Name Goes Here (Line breaks are automatic)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73BFEF-3607-8D16-D4FF-B637A4BCC8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46680"/>
      </p:ext>
    </p:extLst>
  </p:cSld>
  <p:clrMapOvr>
    <a:masterClrMapping/>
  </p:clrMapOvr>
  <p:hf sldNum="0"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nly slide-Image in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84E608-54F6-26BE-A8D4-45C56CD7CA09}"/>
              </a:ext>
            </a:extLst>
          </p:cNvPr>
          <p:cNvSpPr/>
          <p:nvPr/>
        </p:nvSpPr>
        <p:spPr>
          <a:xfrm>
            <a:off x="-4365" y="0"/>
            <a:ext cx="9148366" cy="5143500"/>
          </a:xfrm>
          <a:prstGeom prst="rect">
            <a:avLst/>
          </a:prstGeom>
          <a:gradFill>
            <a:gsLst>
              <a:gs pos="0">
                <a:schemeClr val="bg1"/>
              </a:gs>
              <a:gs pos="45000">
                <a:srgbClr val="E4E4E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0CA9564-AF11-74C4-5433-5ECFFA4F78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9722" y="-6056"/>
            <a:ext cx="2544278" cy="4546517"/>
          </a:xfrm>
          <a:custGeom>
            <a:avLst/>
            <a:gdLst>
              <a:gd name="connsiteX0" fmla="*/ 1431304 w 2570019"/>
              <a:gd name="connsiteY0" fmla="*/ 0 h 4511363"/>
              <a:gd name="connsiteX1" fmla="*/ 2570019 w 2570019"/>
              <a:gd name="connsiteY1" fmla="*/ 0 h 4511363"/>
              <a:gd name="connsiteX2" fmla="*/ 2552669 w 2570019"/>
              <a:gd name="connsiteY2" fmla="*/ 4511363 h 4511363"/>
              <a:gd name="connsiteX3" fmla="*/ 370126 w 2570019"/>
              <a:gd name="connsiteY3" fmla="*/ 3278110 h 4511363"/>
              <a:gd name="connsiteX4" fmla="*/ 111579 w 2570019"/>
              <a:gd name="connsiteY4" fmla="*/ 2287373 h 4511363"/>
              <a:gd name="connsiteX5" fmla="*/ 1253807 w 2570019"/>
              <a:gd name="connsiteY5" fmla="*/ 307499 h 451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70019" h="4511363">
                <a:moveTo>
                  <a:pt x="1431304" y="0"/>
                </a:moveTo>
                <a:lnTo>
                  <a:pt x="2570019" y="0"/>
                </a:lnTo>
                <a:lnTo>
                  <a:pt x="2552669" y="4511363"/>
                </a:lnTo>
                <a:lnTo>
                  <a:pt x="370126" y="3278110"/>
                </a:lnTo>
                <a:cubicBezTo>
                  <a:pt x="-5695" y="3061129"/>
                  <a:pt x="-101776" y="2656913"/>
                  <a:pt x="111579" y="2287373"/>
                </a:cubicBezTo>
                <a:cubicBezTo>
                  <a:pt x="562262" y="1506767"/>
                  <a:pt x="845088" y="1015716"/>
                  <a:pt x="1253807" y="307499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F8B79-29C1-8DBD-D2B1-4CFFE13FE7F5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24E16BA-912E-5AF6-12FF-75AF284BD0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670" y="1197426"/>
            <a:ext cx="5662632" cy="33079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5662455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6C0ADA46-635B-11FC-8795-A299F2BA2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E00065-CBE4-1B18-74EE-065E3BB5E778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CFC18C-E9CF-7EB1-212B-FFA5740CBA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92906"/>
      </p:ext>
    </p:extLst>
  </p:cSld>
  <p:clrMapOvr>
    <a:masterClrMapping/>
  </p:clrMapOvr>
  <p:hf sldNum="0"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 - 1 text, content, image bloc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and black background&#10;&#10;Description automatically generated">
            <a:extLst>
              <a:ext uri="{FF2B5EF4-FFF2-40B4-BE49-F238E27FC236}">
                <a16:creationId xmlns:a16="http://schemas.microsoft.com/office/drawing/2014/main" id="{5D652C4B-976E-B98E-BBEE-DB5F878133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266"/>
            <a:ext cx="9142149" cy="51435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0CA9564-AF11-74C4-5433-5ECFFA4F78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4824" y="0"/>
            <a:ext cx="2570019" cy="4511363"/>
          </a:xfrm>
          <a:custGeom>
            <a:avLst/>
            <a:gdLst>
              <a:gd name="connsiteX0" fmla="*/ 1431304 w 2570019"/>
              <a:gd name="connsiteY0" fmla="*/ 0 h 4511363"/>
              <a:gd name="connsiteX1" fmla="*/ 2570019 w 2570019"/>
              <a:gd name="connsiteY1" fmla="*/ 0 h 4511363"/>
              <a:gd name="connsiteX2" fmla="*/ 2552669 w 2570019"/>
              <a:gd name="connsiteY2" fmla="*/ 4511363 h 4511363"/>
              <a:gd name="connsiteX3" fmla="*/ 370126 w 2570019"/>
              <a:gd name="connsiteY3" fmla="*/ 3278110 h 4511363"/>
              <a:gd name="connsiteX4" fmla="*/ 111579 w 2570019"/>
              <a:gd name="connsiteY4" fmla="*/ 2287373 h 4511363"/>
              <a:gd name="connsiteX5" fmla="*/ 1253807 w 2570019"/>
              <a:gd name="connsiteY5" fmla="*/ 307499 h 451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70019" h="4511363">
                <a:moveTo>
                  <a:pt x="1431304" y="0"/>
                </a:moveTo>
                <a:lnTo>
                  <a:pt x="2570019" y="0"/>
                </a:lnTo>
                <a:lnTo>
                  <a:pt x="2552669" y="4511363"/>
                </a:lnTo>
                <a:lnTo>
                  <a:pt x="370126" y="3278110"/>
                </a:lnTo>
                <a:cubicBezTo>
                  <a:pt x="-5695" y="3061129"/>
                  <a:pt x="-101776" y="2656913"/>
                  <a:pt x="111579" y="2287373"/>
                </a:cubicBezTo>
                <a:cubicBezTo>
                  <a:pt x="562262" y="1506767"/>
                  <a:pt x="845088" y="1015716"/>
                  <a:pt x="1253807" y="307499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99744C-2D47-691B-B9F4-1A7902C50DA2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773A130-1688-0D30-D8E6-253ECBA3C2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670" y="1201566"/>
            <a:ext cx="2076450" cy="3303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Click to edit narrative statement.</a:t>
            </a:r>
            <a:endParaRPr lang="en-US"/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5662472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24E16BA-912E-5AF6-12FF-75AF284BD0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88102" y="1201566"/>
            <a:ext cx="3142200" cy="330561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3AEFAA-E53E-4922-64BC-D2F52AFECC7C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7AA7B8-A1A3-1060-6534-19DF138DBC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14127"/>
      </p:ext>
    </p:extLst>
  </p:cSld>
  <p:clrMapOvr>
    <a:masterClrMapping/>
  </p:clrMapOvr>
  <p:hf sldNum="0"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 - 1 text and content bloc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and black background&#10;&#10;Description automatically generated">
            <a:extLst>
              <a:ext uri="{FF2B5EF4-FFF2-40B4-BE49-F238E27FC236}">
                <a16:creationId xmlns:a16="http://schemas.microsoft.com/office/drawing/2014/main" id="{F8965460-9BDB-151D-BBB4-97E82F64D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45" y="168882"/>
            <a:ext cx="9166290" cy="5157082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4ECFAEC-1BD8-C17F-6B35-46AB318554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670" y="1197426"/>
            <a:ext cx="1918480" cy="33431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Click to edit narrative statement.</a:t>
            </a:r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06F85E0-AF86-F801-D3AA-BCF9DA471D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37429" y="1197427"/>
            <a:ext cx="2597150" cy="3343144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E9E28A-D539-6AE2-2A24-49B450D378E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38319" y="1197427"/>
            <a:ext cx="2716212" cy="3343144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64FF9-01F0-1D88-83FA-C08566E52512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5662455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CFC4E3-A2B8-24CB-7449-68F482DEF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4D451C-870C-DEF0-182B-226920A4CCFD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E9B5CC-74CE-9F48-0277-62A8B2F3C0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407938"/>
      </p:ext>
    </p:extLst>
  </p:cSld>
  <p:clrMapOvr>
    <a:masterClrMapping/>
  </p:clrMapOvr>
  <p:hf sldNum="0"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 - 2 text and content blocks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white and black background&#10;&#10;Description automatically generated">
            <a:extLst>
              <a:ext uri="{FF2B5EF4-FFF2-40B4-BE49-F238E27FC236}">
                <a16:creationId xmlns:a16="http://schemas.microsoft.com/office/drawing/2014/main" id="{64E5C566-B0EB-9A87-1FF4-7409156D5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" y="0"/>
            <a:ext cx="9143075" cy="51440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CF5436-FF0F-D928-B78B-CD8DDAA7E4CA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70" y="369049"/>
            <a:ext cx="5662455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14ECFAEC-1BD8-C17F-6B35-46AB318554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670" y="1197426"/>
            <a:ext cx="1918480" cy="33431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Click to edit narrative statement.</a:t>
            </a:r>
            <a:endParaRPr lang="en-US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E220FF85-1505-E358-7697-2DF24025BBF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937429" y="1197427"/>
            <a:ext cx="2708628" cy="172229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86DC2008-33A7-7872-7522-71340008A7F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666115" y="1197427"/>
            <a:ext cx="2708628" cy="172229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BF4F274-8194-296B-DCD8-ED29376A8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37429" y="3015213"/>
            <a:ext cx="2708628" cy="151905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A40084FC-360E-106B-5058-A766041BA1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66115" y="3015213"/>
            <a:ext cx="2708628" cy="151905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463608-E04E-8705-2946-D47A7A465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E546EC-3502-EE50-7B8C-C1A49A013A02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26C60-8B6B-AD46-6AFD-CF35DF70CB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59748"/>
      </p:ext>
    </p:extLst>
  </p:cSld>
  <p:clrMapOvr>
    <a:masterClrMapping/>
  </p:clrMapOvr>
  <p:hf sldNum="0"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 - 1 text and content bloc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and black background&#10;&#10;Description automatically generated">
            <a:extLst>
              <a:ext uri="{FF2B5EF4-FFF2-40B4-BE49-F238E27FC236}">
                <a16:creationId xmlns:a16="http://schemas.microsoft.com/office/drawing/2014/main" id="{559F33DF-68FB-AAB9-4419-B207ABA94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" y="-1"/>
            <a:ext cx="9143075" cy="5144021"/>
          </a:xfrm>
          <a:prstGeom prst="rect">
            <a:avLst/>
          </a:prstGeom>
        </p:spPr>
      </p:pic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A28E2CF-C93F-87D0-9723-7A8A960CFA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37429" y="3255288"/>
            <a:ext cx="5417102" cy="1313772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76713CB-F4E0-FDDB-9FC3-2B67B7293BD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937429" y="1197427"/>
            <a:ext cx="5417102" cy="1962372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25AE42-F54D-4834-CE92-4D5FA3E732BA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70" y="369049"/>
            <a:ext cx="5662455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14ECFAEC-1BD8-C17F-6B35-46AB318554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670" y="1197426"/>
            <a:ext cx="1918480" cy="33431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Click to edit narrative statement.</a:t>
            </a:r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1E8E7A-A339-CF79-19CF-BA1227DF0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5E97D6-67E0-6E4B-F982-87E6E1E5EFB1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88A4D0-307A-32F2-E7EF-B84FA80D36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893790"/>
      </p:ext>
    </p:extLst>
  </p:cSld>
  <p:clrMapOvr>
    <a:masterClrMapping/>
  </p:clrMapOvr>
  <p:hf sldNum="0"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 - text and content bloc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and black background&#10;&#10;Description automatically generated">
            <a:extLst>
              <a:ext uri="{FF2B5EF4-FFF2-40B4-BE49-F238E27FC236}">
                <a16:creationId xmlns:a16="http://schemas.microsoft.com/office/drawing/2014/main" id="{7B28FDF2-9748-9E4B-325B-74745B17A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" y="-1"/>
            <a:ext cx="9143075" cy="5144021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99E7EACA-F09A-F3CC-930F-5BFA8917A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70" y="355567"/>
            <a:ext cx="2632420" cy="993775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CD02E84-73E9-7E0B-E64C-A19FE85D46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6274" y="355567"/>
            <a:ext cx="5509895" cy="6365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71550" indent="-2857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1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add plain text.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4ECFAEC-1BD8-C17F-6B35-46AB318554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670" y="1434607"/>
            <a:ext cx="1901434" cy="3021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Click to edit narrative statement.</a:t>
            </a:r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7565E23A-30B8-26B3-6DB6-47D44F8B385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166273" y="1434606"/>
            <a:ext cx="5509895" cy="3021003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5B608C-F97C-BE60-CFC9-B744CC46728A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9A040F-33B1-A784-7AB7-1DBB4E8B4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6427C-694F-5192-4809-3DE92F8CF08A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A7577-7ECB-6354-AEF1-5787FB8A35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2183"/>
      </p:ext>
    </p:extLst>
  </p:cSld>
  <p:clrMapOvr>
    <a:masterClrMapping/>
  </p:clrMapOvr>
  <p:hf sldNum="0"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 Slide-1">
    <p:bg>
      <p:bgPr>
        <a:gradFill>
          <a:gsLst>
            <a:gs pos="0">
              <a:schemeClr val="bg1"/>
            </a:gs>
            <a:gs pos="100000">
              <a:srgbClr val="E9E9E9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C55FA8-61E9-0ECD-96C7-A8E49166A9DF}"/>
              </a:ext>
            </a:extLst>
          </p:cNvPr>
          <p:cNvSpPr/>
          <p:nvPr userDrawn="1"/>
        </p:nvSpPr>
        <p:spPr>
          <a:xfrm>
            <a:off x="-10422" y="0"/>
            <a:ext cx="9164843" cy="7057342"/>
          </a:xfrm>
          <a:prstGeom prst="rect">
            <a:avLst/>
          </a:prstGeom>
          <a:gradFill>
            <a:gsLst>
              <a:gs pos="0">
                <a:schemeClr val="bg1"/>
              </a:gs>
              <a:gs pos="45000">
                <a:srgbClr val="E4E4E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B06A1F5-F92C-BEDD-BC45-751764B8D5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15401" y="2571750"/>
            <a:ext cx="1964049" cy="1933576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71550" indent="-2857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1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add plain text.</a:t>
            </a:r>
          </a:p>
        </p:txBody>
      </p:sp>
      <p:sp>
        <p:nvSpPr>
          <p:cNvPr id="4" name="SmartArt Placeholder 6">
            <a:extLst>
              <a:ext uri="{FF2B5EF4-FFF2-40B4-BE49-F238E27FC236}">
                <a16:creationId xmlns:a16="http://schemas.microsoft.com/office/drawing/2014/main" id="{CB513C1D-9E9C-AA71-04A2-E3EF64CB2502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2544120" y="1201566"/>
            <a:ext cx="6135330" cy="12601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92958"/>
                </a:solidFill>
              </a:defRPr>
            </a:lvl1pPr>
          </a:lstStyle>
          <a:p>
            <a:r>
              <a:rPr lang="en-US"/>
              <a:t>Click icon to add SmartArt graphic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C95821-E131-2763-DBDB-63DAC998941E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773A130-1688-0D30-D8E6-253ECBA3C2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670" y="1201566"/>
            <a:ext cx="2076450" cy="3303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Click to edit narrative statement.</a:t>
            </a:r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2B06A1F5-F92C-BEDD-BC45-751764B8D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29760" y="2561883"/>
            <a:ext cx="1964049" cy="1933576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71550" indent="-2857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1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add plain text.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B06A1F5-F92C-BEDD-BC45-751764B8D5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44120" y="2571750"/>
            <a:ext cx="1964049" cy="1933576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71550" indent="-2857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1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add plain text.</a:t>
            </a:r>
          </a:p>
        </p:txBody>
      </p:sp>
      <p:sp>
        <p:nvSpPr>
          <p:cNvPr id="14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5662472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43D379-92A9-12EE-7F7C-B8B85FF11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317D50-CF80-5F22-4513-44AD18346C1B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629A29-70C3-52E9-790D-7CBE3DA29C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563287"/>
      </p:ext>
    </p:extLst>
  </p:cSld>
  <p:clrMapOvr>
    <a:masterClrMapping/>
  </p:clrMapOvr>
  <p:hf sldNum="0"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 - 1 text, content, image in graphic bloc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84E608-54F6-26BE-A8D4-45C56CD7CA09}"/>
              </a:ext>
            </a:extLst>
          </p:cNvPr>
          <p:cNvSpPr/>
          <p:nvPr/>
        </p:nvSpPr>
        <p:spPr>
          <a:xfrm>
            <a:off x="0" y="-6056"/>
            <a:ext cx="9144000" cy="5149556"/>
          </a:xfrm>
          <a:prstGeom prst="rect">
            <a:avLst/>
          </a:prstGeom>
          <a:gradFill>
            <a:gsLst>
              <a:gs pos="0">
                <a:schemeClr val="bg1"/>
              </a:gs>
              <a:gs pos="45000">
                <a:srgbClr val="E4E4E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0CA9564-AF11-74C4-5433-5ECFFA4F78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9722" y="-6056"/>
            <a:ext cx="2544278" cy="4546517"/>
          </a:xfrm>
          <a:custGeom>
            <a:avLst/>
            <a:gdLst>
              <a:gd name="connsiteX0" fmla="*/ 1431304 w 2570019"/>
              <a:gd name="connsiteY0" fmla="*/ 0 h 4511363"/>
              <a:gd name="connsiteX1" fmla="*/ 2570019 w 2570019"/>
              <a:gd name="connsiteY1" fmla="*/ 0 h 4511363"/>
              <a:gd name="connsiteX2" fmla="*/ 2552669 w 2570019"/>
              <a:gd name="connsiteY2" fmla="*/ 4511363 h 4511363"/>
              <a:gd name="connsiteX3" fmla="*/ 370126 w 2570019"/>
              <a:gd name="connsiteY3" fmla="*/ 3278110 h 4511363"/>
              <a:gd name="connsiteX4" fmla="*/ 111579 w 2570019"/>
              <a:gd name="connsiteY4" fmla="*/ 2287373 h 4511363"/>
              <a:gd name="connsiteX5" fmla="*/ 1253807 w 2570019"/>
              <a:gd name="connsiteY5" fmla="*/ 307499 h 451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70019" h="4511363">
                <a:moveTo>
                  <a:pt x="1431304" y="0"/>
                </a:moveTo>
                <a:lnTo>
                  <a:pt x="2570019" y="0"/>
                </a:lnTo>
                <a:lnTo>
                  <a:pt x="2552669" y="4511363"/>
                </a:lnTo>
                <a:lnTo>
                  <a:pt x="370126" y="3278110"/>
                </a:lnTo>
                <a:cubicBezTo>
                  <a:pt x="-5695" y="3061129"/>
                  <a:pt x="-101776" y="2656913"/>
                  <a:pt x="111579" y="2287373"/>
                </a:cubicBezTo>
                <a:cubicBezTo>
                  <a:pt x="562262" y="1506767"/>
                  <a:pt x="845088" y="1015716"/>
                  <a:pt x="1253807" y="307499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7B625C3-7D80-940F-3FF7-0D6B5B89448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937429" y="1201566"/>
            <a:ext cx="3192874" cy="333889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F8B79-29C1-8DBD-D2B1-4CFFE13FE7F5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773A130-1688-0D30-D8E6-253ECBA3C2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670" y="1201566"/>
            <a:ext cx="2076450" cy="3303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Click to edit narrative statement.</a:t>
            </a:r>
            <a:endParaRPr lang="en-US"/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5662472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CD6A3DBE-A5C4-2D30-D503-7CFE632C5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6E800-7433-15CC-7D89-55F727A51A1E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C6B46-66D2-E7B6-CAAF-BB43270819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88272"/>
      </p:ext>
    </p:extLst>
  </p:cSld>
  <p:clrMapOvr>
    <a:masterClrMapping/>
  </p:clrMapOvr>
  <p:hf sldNum="0"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 - 1 text, content, image in graphic block-2">
    <p:bg>
      <p:bgPr>
        <a:gradFill>
          <a:gsLst>
            <a:gs pos="0">
              <a:schemeClr val="bg1"/>
            </a:gs>
            <a:gs pos="100000">
              <a:srgbClr val="E9E9E9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C55FA8-61E9-0ECD-96C7-A8E49166A9DF}"/>
              </a:ext>
            </a:extLst>
          </p:cNvPr>
          <p:cNvSpPr/>
          <p:nvPr/>
        </p:nvSpPr>
        <p:spPr>
          <a:xfrm>
            <a:off x="-10422" y="0"/>
            <a:ext cx="9164843" cy="5143500"/>
          </a:xfrm>
          <a:prstGeom prst="rect">
            <a:avLst/>
          </a:prstGeom>
          <a:gradFill>
            <a:gsLst>
              <a:gs pos="0">
                <a:schemeClr val="bg1"/>
              </a:gs>
              <a:gs pos="45000">
                <a:srgbClr val="E4E4E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0CA9564-AF11-74C4-5433-5ECFFA4F78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4824" y="0"/>
            <a:ext cx="2570019" cy="4511363"/>
          </a:xfrm>
          <a:custGeom>
            <a:avLst/>
            <a:gdLst>
              <a:gd name="connsiteX0" fmla="*/ 1431304 w 2570019"/>
              <a:gd name="connsiteY0" fmla="*/ 0 h 4511363"/>
              <a:gd name="connsiteX1" fmla="*/ 2570019 w 2570019"/>
              <a:gd name="connsiteY1" fmla="*/ 0 h 4511363"/>
              <a:gd name="connsiteX2" fmla="*/ 2552669 w 2570019"/>
              <a:gd name="connsiteY2" fmla="*/ 4511363 h 4511363"/>
              <a:gd name="connsiteX3" fmla="*/ 370126 w 2570019"/>
              <a:gd name="connsiteY3" fmla="*/ 3278110 h 4511363"/>
              <a:gd name="connsiteX4" fmla="*/ 111579 w 2570019"/>
              <a:gd name="connsiteY4" fmla="*/ 2287373 h 4511363"/>
              <a:gd name="connsiteX5" fmla="*/ 1253807 w 2570019"/>
              <a:gd name="connsiteY5" fmla="*/ 307499 h 451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70019" h="4511363">
                <a:moveTo>
                  <a:pt x="1431304" y="0"/>
                </a:moveTo>
                <a:lnTo>
                  <a:pt x="2570019" y="0"/>
                </a:lnTo>
                <a:lnTo>
                  <a:pt x="2552669" y="4511363"/>
                </a:lnTo>
                <a:lnTo>
                  <a:pt x="370126" y="3278110"/>
                </a:lnTo>
                <a:cubicBezTo>
                  <a:pt x="-5695" y="3061129"/>
                  <a:pt x="-101776" y="2656913"/>
                  <a:pt x="111579" y="2287373"/>
                </a:cubicBezTo>
                <a:cubicBezTo>
                  <a:pt x="562262" y="1506767"/>
                  <a:pt x="845088" y="1015716"/>
                  <a:pt x="1253807" y="307499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1B8CA098-5F81-4F3D-0559-9E56DA4400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830" y="1201566"/>
            <a:ext cx="5662472" cy="6365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71550" indent="-2857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1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add plain text, or select from the bullets/numbering options.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CCBC66D5-8C7A-4AD1-CB8B-4F985233BBA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5271" y="1838083"/>
            <a:ext cx="5665031" cy="267965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1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DB361C-1F38-2721-DB4C-3756E2CF722E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Title 10">
            <a:extLst>
              <a:ext uri="{FF2B5EF4-FFF2-40B4-BE49-F238E27FC236}">
                <a16:creationId xmlns:a16="http://schemas.microsoft.com/office/drawing/2014/main" id="{DEF69408-9D08-1EE9-955D-3DC512F0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5662472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E1D813F5-EA8B-2AFA-580F-8042D401D3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214FD1-B1CF-6670-A8B4-F6689DECC594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ABFB88-A044-702C-2DB5-DE51F38733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09201"/>
      </p:ext>
    </p:extLst>
  </p:cSld>
  <p:clrMapOvr>
    <a:masterClrMapping/>
  </p:clrMapOvr>
  <p:hf sldNum="0"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black background&#10;&#10;Description automatically generated">
            <a:extLst>
              <a:ext uri="{FF2B5EF4-FFF2-40B4-BE49-F238E27FC236}">
                <a16:creationId xmlns:a16="http://schemas.microsoft.com/office/drawing/2014/main" id="{1799D222-6493-5F75-459E-E641BF6272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149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24C9A0-C43F-DEC1-CBF7-A7E786979EB6}"/>
              </a:ext>
            </a:extLst>
          </p:cNvPr>
          <p:cNvSpPr txBox="1"/>
          <p:nvPr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87A025-028B-5A0C-0AB2-5876428B2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Mirta Dumancic, PhD    I     8/27/26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8DC31-AB04-E8E5-2837-74D321050384}"/>
              </a:ext>
            </a:extLst>
          </p:cNvPr>
          <p:cNvSpPr txBox="1"/>
          <p:nvPr userDrawn="1"/>
        </p:nvSpPr>
        <p:spPr>
          <a:xfrm>
            <a:off x="153564" y="4760462"/>
            <a:ext cx="628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D0390D9-3D07-1F44-8BC0-191D2566A8C8}" type="slidenum">
              <a:rPr lang="en-US" sz="800" b="1" smtClean="0">
                <a:solidFill>
                  <a:schemeClr val="bg2">
                    <a:lumMod val="50000"/>
                  </a:schemeClr>
                </a:solidFill>
              </a:rPr>
              <a:t>‹#›</a:t>
            </a:fld>
            <a:endParaRPr 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3047B5B0-3319-32FC-D4DF-2FD45F3678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15401" y="2571750"/>
            <a:ext cx="1964049" cy="1933576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71550" indent="-2857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1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add plain text.</a:t>
            </a:r>
          </a:p>
        </p:txBody>
      </p:sp>
      <p:sp>
        <p:nvSpPr>
          <p:cNvPr id="21" name="SmartArt Placeholder 6">
            <a:extLst>
              <a:ext uri="{FF2B5EF4-FFF2-40B4-BE49-F238E27FC236}">
                <a16:creationId xmlns:a16="http://schemas.microsoft.com/office/drawing/2014/main" id="{B51CC26F-18EC-1DB6-0445-FD5499197598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2544120" y="1201566"/>
            <a:ext cx="6135330" cy="12601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92958"/>
                </a:solidFill>
              </a:defRPr>
            </a:lvl1pPr>
          </a:lstStyle>
          <a:p>
            <a:r>
              <a:rPr lang="en-US"/>
              <a:t>Click icon to add SmartArt graphic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AD124E-740F-C800-26F3-091556C43D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670" y="1201566"/>
            <a:ext cx="2076450" cy="3303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1400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Click to edit narrative statement.</a:t>
            </a:r>
            <a:endParaRPr lang="en-US"/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90B54445-E34A-C131-C643-83D3837062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29760" y="2561883"/>
            <a:ext cx="1964049" cy="1933576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71550" indent="-2857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1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add plain text.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464BB8CB-A11C-A66C-95D6-CF2D88A484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44120" y="2571750"/>
            <a:ext cx="1964049" cy="1933576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71550" indent="-2857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US" sz="11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add plain text.</a:t>
            </a:r>
          </a:p>
        </p:txBody>
      </p:sp>
      <p:sp>
        <p:nvSpPr>
          <p:cNvPr id="25" name="Title 10">
            <a:extLst>
              <a:ext uri="{FF2B5EF4-FFF2-40B4-BE49-F238E27FC236}">
                <a16:creationId xmlns:a16="http://schemas.microsoft.com/office/drawing/2014/main" id="{C15766AE-50EC-F92C-23B6-1344DE39F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5662472" cy="73289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19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1BB969-99B8-A79D-E8A1-2420F721AB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6072" y="4563816"/>
            <a:ext cx="1691500" cy="3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94740"/>
      </p:ext>
    </p:extLst>
  </p:cSld>
  <p:clrMapOvr>
    <a:masterClrMapping/>
  </p:clrMapOvr>
  <p:hf sldNum="0"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828DD9-B029-DB8B-B800-478DC07B4C10}"/>
              </a:ext>
            </a:extLst>
          </p:cNvPr>
          <p:cNvSpPr txBox="1">
            <a:spLocks/>
          </p:cNvSpPr>
          <p:nvPr/>
        </p:nvSpPr>
        <p:spPr>
          <a:xfrm>
            <a:off x="163475" y="474311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 and Date</a:t>
            </a:r>
          </a:p>
        </p:txBody>
      </p:sp>
      <p:pic>
        <p:nvPicPr>
          <p:cNvPr id="3" name="Picture 2" descr="A logo for a hospital&#10;&#10;Description automatically generated">
            <a:extLst>
              <a:ext uri="{FF2B5EF4-FFF2-40B4-BE49-F238E27FC236}">
                <a16:creationId xmlns:a16="http://schemas.microsoft.com/office/drawing/2014/main" id="{EC0F4D14-324B-2522-939F-47A96023A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" y="-1"/>
            <a:ext cx="9143075" cy="5144021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4804EFB-D477-9922-9910-661DCCF6B18E}"/>
              </a:ext>
            </a:extLst>
          </p:cNvPr>
          <p:cNvSpPr txBox="1">
            <a:spLocks/>
          </p:cNvSpPr>
          <p:nvPr userDrawn="1"/>
        </p:nvSpPr>
        <p:spPr>
          <a:xfrm>
            <a:off x="163475" y="474311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 and Date</a:t>
            </a:r>
          </a:p>
        </p:txBody>
      </p:sp>
      <p:pic>
        <p:nvPicPr>
          <p:cNvPr id="4" name="Picture 3" descr="A logo for a hospital&#10;&#10;Description automatically generated">
            <a:extLst>
              <a:ext uri="{FF2B5EF4-FFF2-40B4-BE49-F238E27FC236}">
                <a16:creationId xmlns:a16="http://schemas.microsoft.com/office/drawing/2014/main" id="{E07DA10D-15E9-C7B0-14EA-1CCEBC4865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" y="-1"/>
            <a:ext cx="9143075" cy="514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866395"/>
      </p:ext>
    </p:extLst>
  </p:cSld>
  <p:clrMapOvr>
    <a:masterClrMapping/>
  </p:clrMapOvr>
  <p:hf sldNum="0"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-Lila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2FACC1C1-F6F3-D7D1-108D-9A94AD0CEE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" y="-1"/>
            <a:ext cx="9143075" cy="514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63283"/>
      </p:ext>
    </p:extLst>
  </p:cSld>
  <p:clrMapOvr>
    <a:masterClrMapping/>
  </p:clrMapOvr>
  <p:hf sldNum="0"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-Cob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card with a red maple leaf&#10;&#10;Description automatically generated">
            <a:extLst>
              <a:ext uri="{FF2B5EF4-FFF2-40B4-BE49-F238E27FC236}">
                <a16:creationId xmlns:a16="http://schemas.microsoft.com/office/drawing/2014/main" id="{18FF5CD0-5F41-04D7-829D-81957F553C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" y="0"/>
            <a:ext cx="91421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32795"/>
      </p:ext>
    </p:extLst>
  </p:cSld>
  <p:clrMapOvr>
    <a:masterClrMapping/>
  </p:clrMapOvr>
  <p:hf sldNum="0"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-Chartre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on a blue background&#10;&#10;Description automatically generated">
            <a:extLst>
              <a:ext uri="{FF2B5EF4-FFF2-40B4-BE49-F238E27FC236}">
                <a16:creationId xmlns:a16="http://schemas.microsoft.com/office/drawing/2014/main" id="{818EF0BE-DBB3-5C76-7F56-A91353A15D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" y="0"/>
            <a:ext cx="91421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62710"/>
      </p:ext>
    </p:extLst>
  </p:cSld>
  <p:clrMapOvr>
    <a:masterClrMapping/>
  </p:clrMapOvr>
  <p:hf sldNum="0"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39DFB-99A4-8942-7883-1867CE986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434D8-8E7E-0C8C-47C9-43AEE511C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F4631-6BEF-471A-7A09-FB100D1AB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40EB-9416-43DA-B3D3-143F950BF24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8949A-9006-E385-4415-02A126D41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11B7B-5C3B-275C-ED28-AB01547DB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2B96-20D1-4404-9980-30A7E6F4F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58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491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97" r:id="rId17"/>
    <p:sldLayoutId id="2147483767" r:id="rId18"/>
    <p:sldLayoutId id="2147483768" r:id="rId19"/>
    <p:sldLayoutId id="2147483798" r:id="rId20"/>
    <p:sldLayoutId id="2147483770" r:id="rId21"/>
    <p:sldLayoutId id="2147483771" r:id="rId22"/>
    <p:sldLayoutId id="2147483772" r:id="rId23"/>
    <p:sldLayoutId id="2147483773" r:id="rId24"/>
    <p:sldLayoutId id="2147483774" r:id="rId25"/>
    <p:sldLayoutId id="2147483775" r:id="rId26"/>
    <p:sldLayoutId id="2147483776" r:id="rId27"/>
    <p:sldLayoutId id="2147483777" r:id="rId28"/>
    <p:sldLayoutId id="2147483778" r:id="rId29"/>
    <p:sldLayoutId id="2147483779" r:id="rId30"/>
    <p:sldLayoutId id="2147483780" r:id="rId31"/>
    <p:sldLayoutId id="2147483781" r:id="rId32"/>
    <p:sldLayoutId id="2147483782" r:id="rId33"/>
    <p:sldLayoutId id="2147483783" r:id="rId34"/>
    <p:sldLayoutId id="2147483784" r:id="rId35"/>
    <p:sldLayoutId id="2147483785" r:id="rId36"/>
    <p:sldLayoutId id="2147483786" r:id="rId37"/>
    <p:sldLayoutId id="2147483787" r:id="rId38"/>
    <p:sldLayoutId id="2147483788" r:id="rId39"/>
    <p:sldLayoutId id="2147483796" r:id="rId40"/>
    <p:sldLayoutId id="2147483791" r:id="rId41"/>
    <p:sldLayoutId id="2147483792" r:id="rId42"/>
    <p:sldLayoutId id="2147483790" r:id="rId43"/>
    <p:sldLayoutId id="2147483799" r:id="rId44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2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27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3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3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3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4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4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4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4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001DAC-C483-0A35-729A-BD3E679D0B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988" y="2125996"/>
            <a:ext cx="7583730" cy="897304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Arial"/>
                <a:cs typeface="Arial"/>
              </a:rPr>
              <a:t>DWA commissioning in </a:t>
            </a:r>
            <a:r>
              <a:rPr lang="en-US" dirty="0" err="1">
                <a:latin typeface="Arial"/>
                <a:cs typeface="Arial"/>
              </a:rPr>
              <a:t>matRad</a:t>
            </a:r>
            <a:r>
              <a:rPr lang="en-US" dirty="0">
                <a:latin typeface="Arial"/>
                <a:cs typeface="Arial"/>
              </a:rPr>
              <a:t> 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7A5CAF-F35A-3C87-AE8F-C0D8FEB20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812896"/>
            <a:ext cx="7753041" cy="416302"/>
          </a:xfrm>
        </p:spPr>
        <p:txBody>
          <a:bodyPr lIns="91440" tIns="45720" rIns="91440" bIns="45720" anchor="t"/>
          <a:lstStyle/>
          <a:p>
            <a:r>
              <a:rPr lang="en-US" dirty="0">
                <a:cs typeface="Arial"/>
              </a:rPr>
              <a:t>Beyond RBE=1.1 treatment planning for DWA protons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86A6B-465A-16CE-8B9D-D9AAA8EBD0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38863" y="285819"/>
            <a:ext cx="2743200" cy="997957"/>
          </a:xfrm>
        </p:spPr>
        <p:txBody>
          <a:bodyPr lIns="91440" tIns="45720" rIns="91440" bIns="45720" anchor="t"/>
          <a:lstStyle/>
          <a:p>
            <a:r>
              <a:rPr lang="en-US" dirty="0">
                <a:cs typeface="Arial"/>
              </a:rPr>
              <a:t>Mirta Dumancic, PhD</a:t>
            </a:r>
            <a:endParaRPr lang="en-US" dirty="0"/>
          </a:p>
          <a:p>
            <a:r>
              <a:rPr lang="en-US" dirty="0">
                <a:cs typeface="Arial"/>
              </a:rPr>
              <a:t>Seuntjens Lab</a:t>
            </a:r>
          </a:p>
          <a:p>
            <a:r>
              <a:rPr lang="en-US" dirty="0">
                <a:cs typeface="Arial"/>
              </a:rPr>
              <a:t>October 14th, 2026</a:t>
            </a:r>
          </a:p>
        </p:txBody>
      </p:sp>
    </p:spTree>
    <p:extLst>
      <p:ext uri="{BB962C8B-B14F-4D97-AF65-F5344CB8AC3E}">
        <p14:creationId xmlns:p14="http://schemas.microsoft.com/office/powerpoint/2010/main" val="536326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0715294-6B8A-6D18-EACB-F084304719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2022" r="12022"/>
          <a:stretch/>
        </p:blipFill>
        <p:spPr>
          <a:custGeom>
            <a:avLst/>
            <a:gdLst>
              <a:gd name="connsiteX0" fmla="*/ 1431304 w 2570019"/>
              <a:gd name="connsiteY0" fmla="*/ 0 h 4511363"/>
              <a:gd name="connsiteX1" fmla="*/ 2570019 w 2570019"/>
              <a:gd name="connsiteY1" fmla="*/ 0 h 4511363"/>
              <a:gd name="connsiteX2" fmla="*/ 2552669 w 2570019"/>
              <a:gd name="connsiteY2" fmla="*/ 4511363 h 4511363"/>
              <a:gd name="connsiteX3" fmla="*/ 370126 w 2570019"/>
              <a:gd name="connsiteY3" fmla="*/ 3278110 h 4511363"/>
              <a:gd name="connsiteX4" fmla="*/ 111579 w 2570019"/>
              <a:gd name="connsiteY4" fmla="*/ 2287373 h 4511363"/>
              <a:gd name="connsiteX5" fmla="*/ 1253807 w 2570019"/>
              <a:gd name="connsiteY5" fmla="*/ 307499 h 451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70019" h="4511363">
                <a:moveTo>
                  <a:pt x="1431304" y="0"/>
                </a:moveTo>
                <a:lnTo>
                  <a:pt x="2570019" y="0"/>
                </a:lnTo>
                <a:lnTo>
                  <a:pt x="2552669" y="4511363"/>
                </a:lnTo>
                <a:lnTo>
                  <a:pt x="370126" y="3278110"/>
                </a:lnTo>
                <a:cubicBezTo>
                  <a:pt x="-5695" y="3061129"/>
                  <a:pt x="-101776" y="2656913"/>
                  <a:pt x="111579" y="2287373"/>
                </a:cubicBezTo>
                <a:cubicBezTo>
                  <a:pt x="562262" y="1506767"/>
                  <a:pt x="845088" y="1015716"/>
                  <a:pt x="1253807" y="307499"/>
                </a:cubicBezTo>
                <a:close/>
              </a:path>
            </a:pathLst>
          </a:cu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565A8-AB7B-0262-70C8-FF2ED6BB09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670" y="1201566"/>
            <a:ext cx="6138734" cy="1640747"/>
          </a:xfrm>
        </p:spPr>
        <p:txBody>
          <a:bodyPr lIns="91440" tIns="45720" rIns="91440" bIns="45720" anchor="t"/>
          <a:lstStyle/>
          <a:p>
            <a:pPr marL="285750" indent="-285750">
              <a:buChar char="•"/>
            </a:pPr>
            <a:r>
              <a:rPr lang="en-US" sz="1600" b="1" dirty="0">
                <a:latin typeface="Arial"/>
                <a:cs typeface="Arial"/>
              </a:rPr>
              <a:t>Community Events and Updates:</a:t>
            </a:r>
            <a:br>
              <a:rPr lang="en-US" sz="1600" dirty="0">
                <a:latin typeface="Arial"/>
                <a:cs typeface="Arial"/>
              </a:rPr>
            </a:br>
            <a:br>
              <a:rPr lang="en-US" sz="1600" dirty="0">
                <a:latin typeface="Arial"/>
                <a:cs typeface="Arial"/>
              </a:rPr>
            </a:br>
            <a:r>
              <a:rPr lang="en-US" sz="1600" dirty="0">
                <a:latin typeface="Arial"/>
                <a:cs typeface="Arial"/>
              </a:rPr>
              <a:t>- undergrad MRI Crash Course Monday 1-3 PM </a:t>
            </a:r>
            <a:br>
              <a:rPr lang="en-US" sz="1600" dirty="0">
                <a:latin typeface="Arial"/>
                <a:cs typeface="Arial"/>
              </a:rPr>
            </a:br>
            <a:r>
              <a:rPr lang="en-US" sz="1600" dirty="0">
                <a:latin typeface="Arial"/>
                <a:cs typeface="Arial"/>
              </a:rPr>
              <a:t>- Unit 8 visits for clinical radiotherapy</a:t>
            </a:r>
            <a:br>
              <a:rPr lang="en-US" sz="1600" dirty="0">
                <a:latin typeface="Arial"/>
                <a:cs typeface="Arial"/>
              </a:rPr>
            </a:br>
            <a:r>
              <a:rPr lang="en-US" sz="1600" dirty="0">
                <a:latin typeface="Arial"/>
                <a:cs typeface="Arial"/>
              </a:rPr>
              <a:t>- FLASH workshop November 19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4B2BC8-DC83-338E-BB60-588DF1B1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latin typeface="Arial"/>
                <a:cs typeface="Arial"/>
              </a:rPr>
              <a:t>Status Updates for the </a:t>
            </a:r>
            <a:r>
              <a:rPr lang="en-US" dirty="0" err="1">
                <a:latin typeface="Arial"/>
                <a:cs typeface="Arial"/>
              </a:rPr>
              <a:t>Seuntjens</a:t>
            </a:r>
            <a:r>
              <a:rPr lang="en-US" dirty="0">
                <a:latin typeface="Arial"/>
                <a:cs typeface="Arial"/>
              </a:rPr>
              <a:t> Lab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57C45F-5FD9-1986-3068-8D70BF6F5B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5264" y="3024188"/>
            <a:ext cx="5783456" cy="1632301"/>
          </a:xfrm>
        </p:spPr>
        <p:txBody>
          <a:bodyPr lIns="91440" tIns="45720" rIns="91440" bIns="45720" anchor="t"/>
          <a:lstStyle/>
          <a:p>
            <a:r>
              <a:rPr lang="en-US" b="1" dirty="0">
                <a:latin typeface="Arial"/>
                <a:cs typeface="Arial"/>
              </a:rPr>
              <a:t>Research Progress with Particle Treatment Planning</a:t>
            </a:r>
            <a:br>
              <a:rPr lang="en-US" dirty="0">
                <a:latin typeface="Arial"/>
                <a:cs typeface="Arial"/>
              </a:rPr>
            </a:b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- updated version of DWA commissioned in </a:t>
            </a:r>
            <a:r>
              <a:rPr lang="en-US" dirty="0" err="1">
                <a:latin typeface="Arial"/>
                <a:cs typeface="Arial"/>
              </a:rPr>
              <a:t>matRad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- added to REB protocol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- LET-based planning in collaboration with DKFZ (MATLAB or Python </a:t>
            </a:r>
            <a:r>
              <a:rPr lang="en-US" b="1" dirty="0" err="1">
                <a:latin typeface="Arial"/>
                <a:ea typeface="Calibri"/>
                <a:cs typeface="Arial"/>
              </a:rPr>
              <a:t>pyRadPlan</a:t>
            </a:r>
            <a:r>
              <a:rPr lang="en-US" dirty="0">
                <a:latin typeface="Arial"/>
                <a:cs typeface="Arial"/>
              </a:rPr>
              <a:t>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444A6-6511-7571-655D-D28749E39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Mirta Dumancic, PhD    I 10/14/26</a:t>
            </a:r>
          </a:p>
        </p:txBody>
      </p:sp>
    </p:spTree>
    <p:extLst>
      <p:ext uri="{BB962C8B-B14F-4D97-AF65-F5344CB8AC3E}">
        <p14:creationId xmlns:p14="http://schemas.microsoft.com/office/powerpoint/2010/main" val="3650329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10DFB-995E-B020-36AD-D910464C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35273332-F9FE-8A79-2178-FA4099B6E48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2022" r="12022"/>
          <a:stretch/>
        </p:blipFill>
        <p:spPr>
          <a:custGeom>
            <a:avLst/>
            <a:gdLst>
              <a:gd name="connsiteX0" fmla="*/ 1431304 w 2570019"/>
              <a:gd name="connsiteY0" fmla="*/ 0 h 4511363"/>
              <a:gd name="connsiteX1" fmla="*/ 2570019 w 2570019"/>
              <a:gd name="connsiteY1" fmla="*/ 0 h 4511363"/>
              <a:gd name="connsiteX2" fmla="*/ 2552669 w 2570019"/>
              <a:gd name="connsiteY2" fmla="*/ 4511363 h 4511363"/>
              <a:gd name="connsiteX3" fmla="*/ 370126 w 2570019"/>
              <a:gd name="connsiteY3" fmla="*/ 3278110 h 4511363"/>
              <a:gd name="connsiteX4" fmla="*/ 111579 w 2570019"/>
              <a:gd name="connsiteY4" fmla="*/ 2287373 h 4511363"/>
              <a:gd name="connsiteX5" fmla="*/ 1253807 w 2570019"/>
              <a:gd name="connsiteY5" fmla="*/ 307499 h 451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70019" h="4511363">
                <a:moveTo>
                  <a:pt x="1431304" y="0"/>
                </a:moveTo>
                <a:lnTo>
                  <a:pt x="2570019" y="0"/>
                </a:lnTo>
                <a:lnTo>
                  <a:pt x="2552669" y="4511363"/>
                </a:lnTo>
                <a:lnTo>
                  <a:pt x="370126" y="3278110"/>
                </a:lnTo>
                <a:cubicBezTo>
                  <a:pt x="-5695" y="3061129"/>
                  <a:pt x="-101776" y="2656913"/>
                  <a:pt x="111579" y="2287373"/>
                </a:cubicBezTo>
                <a:cubicBezTo>
                  <a:pt x="562262" y="1506767"/>
                  <a:pt x="845088" y="1015716"/>
                  <a:pt x="1253807" y="307499"/>
                </a:cubicBezTo>
                <a:close/>
              </a:path>
            </a:pathLst>
          </a:cu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5302B-3186-45A7-EBAF-C2EE28354A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670" y="1201566"/>
            <a:ext cx="6138734" cy="1640747"/>
          </a:xfrm>
        </p:spPr>
        <p:txBody>
          <a:bodyPr lIns="91440" tIns="45720" rIns="91440" bIns="45720" anchor="t"/>
          <a:lstStyle/>
          <a:p>
            <a:pPr marL="285750" indent="-285750">
              <a:buChar char="•"/>
            </a:pPr>
            <a:r>
              <a:rPr lang="en-US" sz="1600" b="1" dirty="0">
                <a:latin typeface="Arial"/>
                <a:cs typeface="Arial"/>
              </a:rPr>
              <a:t>Starting with TOPAS output:</a:t>
            </a:r>
            <a:br>
              <a:rPr lang="en-US" sz="1600" dirty="0">
                <a:latin typeface="Arial"/>
                <a:cs typeface="Arial"/>
              </a:rPr>
            </a:br>
            <a:br>
              <a:rPr lang="en-US" sz="1600" dirty="0">
                <a:latin typeface="Arial"/>
                <a:cs typeface="Arial"/>
              </a:rPr>
            </a:br>
            <a:r>
              <a:rPr lang="en-US" sz="1600" dirty="0">
                <a:latin typeface="Arial"/>
                <a:cs typeface="Arial"/>
              </a:rPr>
              <a:t>- 58 Bragg curves (energies) in water, 580 lateral spot profiles in air</a:t>
            </a:r>
            <a:br>
              <a:rPr lang="en-US" sz="1600" dirty="0">
                <a:latin typeface="Arial"/>
                <a:cs typeface="Arial"/>
              </a:rPr>
            </a:br>
            <a:r>
              <a:rPr lang="en-US" sz="1600" dirty="0">
                <a:latin typeface="Arial"/>
                <a:cs typeface="Arial"/>
              </a:rPr>
              <a:t>- </a:t>
            </a:r>
            <a:r>
              <a:rPr lang="en-US" sz="1600" dirty="0" err="1">
                <a:latin typeface="Arial"/>
                <a:cs typeface="Arial"/>
              </a:rPr>
              <a:t>RayStation</a:t>
            </a:r>
            <a:r>
              <a:rPr lang="en-US" sz="1600" dirty="0">
                <a:latin typeface="Arial"/>
                <a:cs typeface="Arial"/>
              </a:rPr>
              <a:t> beam model unknown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BCA934-76C9-4A6A-2A24-F30298918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6692201" cy="732890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Arial"/>
                <a:cs typeface="Arial"/>
              </a:rPr>
              <a:t>Validation of DWA against a generic proton machine in a water phantom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DD2A84-9EC9-1033-D559-B9A3754A19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5264" y="2493877"/>
            <a:ext cx="6560902" cy="2229543"/>
          </a:xfrm>
        </p:spPr>
        <p:txBody>
          <a:bodyPr lIns="91440" tIns="45720" rIns="91440" bIns="45720" anchor="t"/>
          <a:lstStyle/>
          <a:p>
            <a:r>
              <a:rPr lang="en-US" b="1" dirty="0">
                <a:latin typeface="Arial"/>
                <a:cs typeface="Arial"/>
              </a:rPr>
              <a:t>AI Disclosure for this work</a:t>
            </a:r>
            <a:br>
              <a:rPr lang="en-US" b="1" dirty="0">
                <a:latin typeface="Arial"/>
                <a:cs typeface="Arial"/>
              </a:rPr>
            </a:br>
            <a:br>
              <a:rPr lang="en-US" dirty="0">
                <a:latin typeface="Arial"/>
                <a:cs typeface="Arial"/>
              </a:rPr>
            </a:br>
            <a:r>
              <a:rPr lang="en-US" sz="1400" dirty="0">
                <a:latin typeface="Arial"/>
                <a:cs typeface="Arial"/>
              </a:rPr>
              <a:t>Claude (Anthropic, Opus 5.5), an AI assistant, was used to help write and debug the MATLAB scripts that converted the TOPAS/</a:t>
            </a:r>
            <a:r>
              <a:rPr lang="en-US" sz="1400" dirty="0" err="1">
                <a:latin typeface="Arial"/>
                <a:cs typeface="Arial"/>
              </a:rPr>
              <a:t>RayStation</a:t>
            </a:r>
            <a:r>
              <a:rPr lang="en-US" sz="1400" dirty="0">
                <a:latin typeface="Arial"/>
                <a:cs typeface="Arial"/>
              </a:rPr>
              <a:t> exports into the </a:t>
            </a:r>
            <a:r>
              <a:rPr lang="en-US" sz="1400" dirty="0" err="1">
                <a:latin typeface="Arial"/>
                <a:cs typeface="Arial"/>
              </a:rPr>
              <a:t>matRad</a:t>
            </a:r>
            <a:r>
              <a:rPr lang="en-US" sz="1400" dirty="0">
                <a:latin typeface="Arial"/>
                <a:cs typeface="Arial"/>
              </a:rPr>
              <a:t> machine file (including the double-Gaussian lateral fit and energy-layer interpolation), to design the validation and DWA-vs-Generic comparison analyses, and to draft the accompanying documentation, while all code was run, checked and validated, and all results interpreted, by the author, who takes full responsibility for</a:t>
            </a:r>
            <a:r>
              <a:rPr lang="en-US" sz="1400" dirty="0">
                <a:latin typeface="Arial"/>
                <a:ea typeface="Calibri"/>
                <a:cs typeface="Arial"/>
              </a:rPr>
              <a:t> the work</a:t>
            </a:r>
            <a:r>
              <a:rPr lang="en-US" sz="1400" dirty="0">
                <a:latin typeface="Arial"/>
                <a:cs typeface="Arial"/>
              </a:rPr>
              <a:t>.</a:t>
            </a:r>
            <a:endParaRPr lang="en-US" sz="14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3DEEB-1664-CA69-F792-1290AABE5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Mirta Dumancic, PhD    I 10/14/26</a:t>
            </a:r>
          </a:p>
        </p:txBody>
      </p:sp>
    </p:spTree>
    <p:extLst>
      <p:ext uri="{BB962C8B-B14F-4D97-AF65-F5344CB8AC3E}">
        <p14:creationId xmlns:p14="http://schemas.microsoft.com/office/powerpoint/2010/main" val="3111182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1747A-4676-58A4-92C8-3F0E481CF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164272-D96C-D8A9-8F51-86CE5234A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8221349" cy="732890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Arial"/>
                <a:cs typeface="Arial"/>
              </a:rPr>
              <a:t>Commissioning the machine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A35DC-5220-9712-5164-D153F363A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Mirta Dumancic, PhD    I 10/14/26</a:t>
            </a:r>
          </a:p>
        </p:txBody>
      </p:sp>
      <p:pic>
        <p:nvPicPr>
          <p:cNvPr id="7" name="Picture 6" descr="A diagram of a beam&#10;&#10;AI-generated content may be incorrect.">
            <a:extLst>
              <a:ext uri="{FF2B5EF4-FFF2-40B4-BE49-F238E27FC236}">
                <a16:creationId xmlns:a16="http://schemas.microsoft.com/office/drawing/2014/main" id="{A4F4F970-ACE5-87A2-30B7-AC00520A6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79" y="665824"/>
            <a:ext cx="7379009" cy="433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26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B766E-6DBC-DA0D-AD17-D61DEEBF4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42F23-2F08-7F88-C892-4248AFF8C5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575" y="1201566"/>
            <a:ext cx="6133586" cy="3447922"/>
          </a:xfrm>
        </p:spPr>
        <p:txBody>
          <a:bodyPr lIns="91440" tIns="45720" rIns="91440" bIns="45720" anchor="t"/>
          <a:lstStyle/>
          <a:p>
            <a:pPr marL="285750" indent="-285750">
              <a:buChar char="•"/>
            </a:pPr>
            <a:r>
              <a:rPr lang="en-US" sz="1600" b="1" dirty="0">
                <a:latin typeface="Arial"/>
                <a:cs typeface="Arial"/>
              </a:rPr>
              <a:t>Modeling the beam:</a:t>
            </a:r>
            <a:br>
              <a:rPr lang="en-US" sz="1600" b="1" dirty="0">
                <a:latin typeface="Arial"/>
                <a:cs typeface="Arial"/>
              </a:rPr>
            </a:br>
            <a:br>
              <a:rPr lang="en-US" dirty="0"/>
            </a:br>
            <a:r>
              <a:rPr lang="en-US" dirty="0">
                <a:latin typeface="Arial"/>
                <a:cs typeface="Arial"/>
              </a:rPr>
              <a:t>1) "</a:t>
            </a:r>
            <a:r>
              <a:rPr lang="en-US" dirty="0" err="1">
                <a:latin typeface="Arial"/>
                <a:cs typeface="Arial"/>
              </a:rPr>
              <a:t>DWA_proton</a:t>
            </a:r>
            <a:r>
              <a:rPr lang="en-US" dirty="0">
                <a:latin typeface="Arial"/>
                <a:cs typeface="Arial"/>
              </a:rPr>
              <a:t>": had a single Gaussian for the lateral profile but that turned to inflate the width: at 149 MeV σ ≈ 5.0 mm, when the real core is 1.3 mm</a:t>
            </a:r>
            <a:br>
              <a:rPr lang="en-US" dirty="0">
                <a:latin typeface="Arial"/>
                <a:cs typeface="Arial"/>
              </a:rPr>
            </a:b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2) "</a:t>
            </a:r>
            <a:r>
              <a:rPr lang="en-US" dirty="0" err="1">
                <a:latin typeface="Arial"/>
                <a:cs typeface="Arial"/>
              </a:rPr>
              <a:t>DWA_proton_doubleGauss_interp</a:t>
            </a:r>
            <a:r>
              <a:rPr lang="en-US" dirty="0">
                <a:latin typeface="Arial"/>
                <a:cs typeface="Arial"/>
              </a:rPr>
              <a:t>": </a:t>
            </a:r>
            <a:r>
              <a:rPr lang="en-US" dirty="0" err="1">
                <a:latin typeface="Arial"/>
                <a:cs typeface="Arial"/>
              </a:rPr>
              <a:t>Gauss+halo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σ_core</a:t>
            </a:r>
            <a:r>
              <a:rPr lang="en-US" dirty="0">
                <a:latin typeface="Arial"/>
                <a:cs typeface="Arial"/>
              </a:rPr>
              <a:t>(z)² = σ_air,core² + </a:t>
            </a:r>
            <a:r>
              <a:rPr lang="en-US" dirty="0" err="1">
                <a:latin typeface="Arial"/>
                <a:cs typeface="Arial"/>
              </a:rPr>
              <a:t>σ_Highland</a:t>
            </a:r>
            <a:r>
              <a:rPr lang="en-US" dirty="0">
                <a:latin typeface="Arial"/>
                <a:cs typeface="Arial"/>
              </a:rPr>
              <a:t>(z)²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σ_halo</a:t>
            </a:r>
            <a:r>
              <a:rPr lang="en-US" dirty="0">
                <a:latin typeface="Arial"/>
                <a:cs typeface="Arial"/>
              </a:rPr>
              <a:t>(z)² = σ_air,core² + σ_air,halo,extra² + </a:t>
            </a:r>
            <a:r>
              <a:rPr lang="en-US" dirty="0" err="1">
                <a:latin typeface="Arial"/>
                <a:cs typeface="Arial"/>
              </a:rPr>
              <a:t>σ_Highland</a:t>
            </a:r>
            <a:r>
              <a:rPr lang="en-US" dirty="0">
                <a:latin typeface="Arial"/>
                <a:cs typeface="Arial"/>
              </a:rPr>
              <a:t>(z)²</a:t>
            </a:r>
            <a:endParaRPr lang="en-US" dirty="0" err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191F0A-A12C-1FE6-56CB-7F68E79AC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8221349" cy="732890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Arial"/>
                <a:cs typeface="Arial"/>
              </a:rPr>
              <a:t>Beam Model in </a:t>
            </a:r>
            <a:r>
              <a:rPr lang="en-US" dirty="0" err="1">
                <a:latin typeface="Arial"/>
                <a:cs typeface="Arial"/>
              </a:rPr>
              <a:t>matRad</a:t>
            </a:r>
            <a:endParaRPr lang="en-US" dirty="0" err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E70BB-0513-125E-3661-C2E1F1A3A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Mirta Dumancic, PhD    I 10/14/26</a:t>
            </a:r>
          </a:p>
        </p:txBody>
      </p:sp>
      <p:pic>
        <p:nvPicPr>
          <p:cNvPr id="17" name="Picture 16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2CBE65AB-FA39-C61A-AD10-E20CB6A53A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76" r="128" b="193"/>
          <a:stretch>
            <a:fillRect/>
          </a:stretch>
        </p:blipFill>
        <p:spPr>
          <a:xfrm>
            <a:off x="5586110" y="2296296"/>
            <a:ext cx="3480844" cy="225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436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BFCC8-9318-F857-7FFA-CCA783554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9064B-CC7D-CE24-13E0-4D5A995AE6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94301" y="260866"/>
            <a:ext cx="6153816" cy="843299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Arial"/>
                <a:cs typeface="Arial"/>
              </a:rPr>
              <a:t>1) "</a:t>
            </a:r>
            <a:r>
              <a:rPr lang="en-US" dirty="0" err="1">
                <a:latin typeface="Arial"/>
                <a:cs typeface="Arial"/>
              </a:rPr>
              <a:t>DWA_proton</a:t>
            </a:r>
            <a:r>
              <a:rPr lang="en-US" dirty="0">
                <a:latin typeface="Arial"/>
                <a:cs typeface="Arial"/>
              </a:rPr>
              <a:t>": had a single Gaussian for the lateral profile but that turned to inflate the width: at 149 MeV σ ≈ 5.0 mm, when the real core is 1.3 mm</a:t>
            </a:r>
            <a:br>
              <a:rPr lang="en-US" dirty="0">
                <a:latin typeface="Arial"/>
                <a:cs typeface="Arial"/>
              </a:rPr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A4DAC6-E449-D231-6748-9E281416A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8221349" cy="732890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Arial"/>
                <a:cs typeface="Arial"/>
              </a:rPr>
              <a:t>SOBP check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6E9ED-7B5D-5BFF-921E-BFEC53577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Mirta Dumancic, PhD    I 10/14/26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123F1-306D-68A0-2E25-525A94A9F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656" y="925527"/>
            <a:ext cx="5882405" cy="3939809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8052D6C1-7878-F504-668E-4A01B8369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731" y="1099420"/>
            <a:ext cx="1511357" cy="57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240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A1DEE-1288-BCD2-1C5B-7B6BAD595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12F21B-6CF1-B066-1C7A-BA7CECCAD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8221349" cy="830714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Arial"/>
                <a:cs typeface="Arial"/>
              </a:rPr>
              <a:t>Comparison with a generic proton machine (not a real machine = synchrotron!) 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0D344-D600-05DF-798A-3D8A01560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Mirta Dumancic, PhD    I 10/14/26</a:t>
            </a:r>
          </a:p>
        </p:txBody>
      </p:sp>
      <p:pic>
        <p:nvPicPr>
          <p:cNvPr id="7" name="Picture 6" descr="A graph of energy and energy&#10;&#10;AI-generated content may be incorrect.">
            <a:extLst>
              <a:ext uri="{FF2B5EF4-FFF2-40B4-BE49-F238E27FC236}">
                <a16:creationId xmlns:a16="http://schemas.microsoft.com/office/drawing/2014/main" id="{DFF112A6-D4AF-2C2B-D8B7-A0A2D25E9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91" y="1184188"/>
            <a:ext cx="4136768" cy="2780272"/>
          </a:xfrm>
          <a:prstGeom prst="rect">
            <a:avLst/>
          </a:prstGeom>
        </p:spPr>
      </p:pic>
      <p:pic>
        <p:nvPicPr>
          <p:cNvPr id="8" name="Picture 7" descr="A graph of energy and energy&#10;&#10;AI-generated content may be incorrect.">
            <a:extLst>
              <a:ext uri="{FF2B5EF4-FFF2-40B4-BE49-F238E27FC236}">
                <a16:creationId xmlns:a16="http://schemas.microsoft.com/office/drawing/2014/main" id="{6B05C9B7-9DE6-B75D-33EB-8B0E267B7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510" y="1173890"/>
            <a:ext cx="4246913" cy="287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43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D50E9-32AF-B335-D5ED-F886203A2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FF03A2-6AEB-31EE-D90B-7AEA0DF24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0" y="355567"/>
            <a:ext cx="8221349" cy="830714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Arial"/>
                <a:cs typeface="Arial"/>
              </a:rPr>
              <a:t>Latest version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46748-CA3D-4EAB-A2E5-85C27EB3C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Mirta Dumancic, PhD    I 10/14/26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5B50FF-4A64-DA15-6B1E-02CCE78F0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665" y="169905"/>
            <a:ext cx="6394049" cy="497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35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C8C56-1B0B-1293-A30C-60BA13CB1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6F18E8-F0FF-5194-D50A-0C0DF722A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644" y="138094"/>
            <a:ext cx="8221349" cy="830714"/>
          </a:xfrm>
        </p:spPr>
        <p:txBody>
          <a:bodyPr lIns="91440" tIns="45720" rIns="91440" bIns="45720" anchor="t"/>
          <a:lstStyle/>
          <a:p>
            <a:r>
              <a:rPr lang="en-US" sz="1400" dirty="0">
                <a:latin typeface="Arial"/>
                <a:cs typeface="Arial"/>
              </a:rPr>
              <a:t>Latest version</a:t>
            </a:r>
            <a:endParaRPr lang="en-US" sz="14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A88B0-74E6-CC98-66CB-3BF5645F0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Mirta Dumancic, PhD    I 10/14/26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90AB6F-2DD9-6BAC-48AC-7BA571D38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740"/>
            <a:ext cx="9144000" cy="306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173662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Update for Oct 14: Alaina &amp; Remo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1188720"/>
            <a:ext cx="457200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92858"/>
                </a:solidFill>
              </a:rPr>
              <a:t>Where we are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</a:rPr>
              <a:t>DWA_proton_doubleGauss_interp in matRad: depth-dose is validated (Bragg peak within 1 mm of TOPAS at all 58 energies)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</a:rPr>
              <a:t>Remo's SOBP check: the depth is good, the </a:t>
            </a:r>
            <a:r>
              <a:rPr sz="1200" b="1">
                <a:solidFill>
                  <a:srgbClr val="262626"/>
                </a:solidFill>
              </a:rPr>
              <a:t>lateral penumbra is too shallow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92858"/>
                </a:solidFill>
              </a:rPr>
              <a:t>Today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200" b="1">
                <a:solidFill>
                  <a:srgbClr val="262626"/>
                </a:solidFill>
              </a:rPr>
              <a:t>1.</a:t>
            </a:r>
            <a:r>
              <a:rPr sz="1200" b="0">
                <a:solidFill>
                  <a:srgbClr val="262626"/>
                </a:solidFill>
              </a:rPr>
              <a:t> Why the current lateral model is questionable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200" b="1">
                <a:solidFill>
                  <a:srgbClr val="262626"/>
                </a:solidFill>
              </a:rPr>
              <a:t>2.</a:t>
            </a:r>
            <a:r>
              <a:rPr sz="1200" b="0">
                <a:solidFill>
                  <a:srgbClr val="262626"/>
                </a:solidFill>
              </a:rPr>
              <a:t> What goes into TOPAS: Jamiel's TRANSOPTR beam optics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200" b="1">
                <a:solidFill>
                  <a:srgbClr val="262626"/>
                </a:solidFill>
              </a:rPr>
              <a:t>3.</a:t>
            </a:r>
            <a:r>
              <a:rPr sz="1200" b="0">
                <a:solidFill>
                  <a:srgbClr val="262626"/>
                </a:solidFill>
              </a:rPr>
              <a:t> A proposal: re-score in TOPAS for matRad, from scratch (dose, lateral profiles in water, LET)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200" b="1">
                <a:solidFill>
                  <a:srgbClr val="262626"/>
                </a:solidFill>
              </a:rPr>
              <a:t>4.</a:t>
            </a:r>
            <a:r>
              <a:rPr sz="1200" b="0">
                <a:solidFill>
                  <a:srgbClr val="262626"/>
                </a:solidFill>
              </a:rPr>
              <a:t> Questions we need answered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32588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192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200" b="1">
                <a:solidFill>
                  <a:srgbClr val="FFFFFF"/>
                </a:solidFill>
              </a:rPr>
              <a:t>Goal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One TOPAS data set that gives matRad everything: absolute IDD, depth-dependent σ1/σ2/weight and LETd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274320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C0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200" b="1">
                <a:solidFill>
                  <a:srgbClr val="FFFFFF"/>
                </a:solidFill>
              </a:rPr>
              <a:t>Decision needed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Agree on the scoring setup (A–D) before Alaina reruns, so one run serves matRad and RayStation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Open issues with the lateral beam model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B7686F0-0AEB-9ACC-5CAE-80C1CD129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t>Mirta Dumancic, PhD    I 10/14/26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Why the current lateral profile is questionable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6344" y="1188720"/>
          <a:ext cx="54864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965960"/>
                <a:gridCol w="21031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matRad field</a:t>
                      </a:r>
                    </a:p>
                  </a:txBody>
                  <a:tcPr marL="45720" marR="45720" marT="22860" marB="22860" anchor="ctr">
                    <a:solidFill>
                      <a:srgbClr val="19285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Where it comes from now</a:t>
                      </a:r>
                    </a:p>
                  </a:txBody>
                  <a:tcPr marL="45720" marR="45720" marT="22860" marB="22860" anchor="ctr">
                    <a:solidFill>
                      <a:srgbClr val="19285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 marL="45720" marR="45720" marT="22860" marB="22860" anchor="ctr">
                    <a:solidFill>
                      <a:srgbClr val="19285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Z (IDD)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TOPAS Bragg curves in water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Good, but </a:t>
                      </a:r>
                      <a:r>
                        <a:rPr sz="900" b="1">
                          <a:solidFill>
                            <a:srgbClr val="262626"/>
                          </a:solidFill>
                        </a:rPr>
                        <a:t>relative</a:t>
                      </a:r>
                      <a:r>
                        <a:rPr sz="900" b="0">
                          <a:solidFill>
                            <a:srgbClr val="262626"/>
                          </a:solidFill>
                        </a:rPr>
                        <a:t> and scored to r &lt; 60 mm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initFocus (core σ in air)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TOPAS lateral profiles </a:t>
                      </a:r>
                      <a:r>
                        <a:rPr sz="900" b="1">
                          <a:solidFill>
                            <a:srgbClr val="262626"/>
                          </a:solidFill>
                        </a:rPr>
                        <a:t>in air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Fine; </a:t>
                      </a:r>
                      <a:r>
                        <a:rPr sz="900" b="1">
                          <a:solidFill>
                            <a:srgbClr val="262626"/>
                          </a:solidFill>
                        </a:rPr>
                        <a:t>mirrored in Z</a:t>
                      </a:r>
                      <a:r>
                        <a:rPr sz="900" b="0">
                          <a:solidFill>
                            <a:srgbClr val="262626"/>
                          </a:solidFill>
                        </a:rPr>
                        <a:t> (script bug)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sigma1 (core in water)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initFocus + Highland, </a:t>
                      </a:r>
                      <a:r>
                        <a:rPr sz="900" b="1">
                          <a:solidFill>
                            <a:srgbClr val="262626"/>
                          </a:solidFill>
                        </a:rPr>
                        <a:t>computed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0233B"/>
                          </a:solidFill>
                        </a:rPr>
                        <a:t>Not checked against MC in water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sigma2 (halo width)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Air profile at isocentre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0233B"/>
                          </a:solidFill>
                        </a:rPr>
                        <a:t>Constant with depth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weight (halo)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Air profile at isocentre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0233B"/>
                          </a:solidFill>
                        </a:rPr>
                        <a:t>Constant with depth</a:t>
                      </a:r>
                      <a:r>
                        <a:rPr sz="900" b="0">
                          <a:solidFill>
                            <a:srgbClr val="C0233B"/>
                          </a:solidFill>
                        </a:rPr>
                        <a:t>; 0.5 or 0.05?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Nuclear halo in water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0233B"/>
                          </a:solidFill>
                        </a:rPr>
                        <a:t>Missing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X vs 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Averaged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matRad's double Gaussian is round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188720"/>
            <a:ext cx="265176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92858"/>
                </a:solidFill>
              </a:rPr>
              <a:t>The key point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The Bragg curves are </a:t>
            </a:r>
            <a:r>
              <a:rPr sz="1000" b="1">
                <a:solidFill>
                  <a:srgbClr val="262626"/>
                </a:solidFill>
              </a:rPr>
              <a:t>laterally integrated</a:t>
            </a:r>
            <a:r>
              <a:rPr sz="1000" b="0">
                <a:solidFill>
                  <a:srgbClr val="262626"/>
                </a:solidFill>
              </a:rPr>
              <a:t> (IDD). Integrating over the plane removes all lateral information.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So everything lateral comes from runs </a:t>
            </a:r>
            <a:r>
              <a:rPr sz="1000" b="1">
                <a:solidFill>
                  <a:srgbClr val="262626"/>
                </a:solidFill>
              </a:rPr>
              <a:t>in air</a:t>
            </a:r>
            <a:r>
              <a:rPr sz="1000" b="0">
                <a:solidFill>
                  <a:srgbClr val="262626"/>
                </a:solidFill>
              </a:rPr>
              <a:t>. In air there is no nuclear scattering, so the halo there is only the in-air (beamline) halo.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In water the halo should </a:t>
            </a:r>
            <a:r>
              <a:rPr sz="1000" b="1">
                <a:solidFill>
                  <a:srgbClr val="262626"/>
                </a:solidFill>
              </a:rPr>
              <a:t>grow with depth</a:t>
            </a:r>
            <a:r>
              <a:rPr sz="1000" b="0">
                <a:solidFill>
                  <a:srgbClr val="262626"/>
                </a:solidFill>
              </a:rPr>
              <a:t> (secondary protons from nuclear reactions), and its weight should change. Our machine cannot do that.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Remo's SOBP check: penumbra too shallow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pic>
        <p:nvPicPr>
          <p:cNvPr id="5" name="Picture 4" descr="remo_so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22507"/>
            <a:ext cx="5394960" cy="25841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188720"/>
            <a:ext cx="292608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92858"/>
                </a:solidFill>
              </a:rPr>
              <a:t>What Remo saw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Flat SOBP: more layers (interpolation) helped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Lateral profile: a </a:t>
            </a:r>
            <a:r>
              <a:rPr sz="1000" b="1">
                <a:solidFill>
                  <a:srgbClr val="262626"/>
                </a:solidFill>
              </a:rPr>
              <a:t>~20 % shoulder</a:t>
            </a:r>
            <a:r>
              <a:rPr sz="1000" b="0">
                <a:solidFill>
                  <a:srgbClr val="262626"/>
                </a:solidFill>
              </a:rPr>
              <a:t> out to ±50 mm beyond the field edge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92858"/>
                </a:solidFill>
              </a:rPr>
              <a:t>Why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Halo weight ≈ 0.4–0.5 is used </a:t>
            </a:r>
            <a:r>
              <a:rPr sz="1000" b="1">
                <a:solidFill>
                  <a:srgbClr val="262626"/>
                </a:solidFill>
              </a:rPr>
              <a:t>at every depth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That weight describes the in-air halo at isocentre only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The physical nuclear halo (small at the surface, growing towards the Bragg peak) is missing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53035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</a:rPr>
              <a:t>“The standard deviation and the relative weight of the two Gaussians can (and should) change as a function of depth.” (Remo)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Is the halo weight 0.5 or 0.05?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1188720"/>
            <a:ext cx="402336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146304" indent="-128016">
              <a:spcAft>
                <a:spcPts val="400"/>
              </a:spcAft>
              <a:buChar char="•"/>
            </a:pPr>
            <a:r>
              <a:rPr sz="1100" b="0">
                <a:solidFill>
                  <a:srgbClr val="262626"/>
                </a:solidFill>
              </a:rPr>
              <a:t>Alaina's lateral profiles are </a:t>
            </a:r>
            <a:r>
              <a:rPr sz="1100" b="1">
                <a:solidFill>
                  <a:srgbClr val="262626"/>
                </a:solidFill>
              </a:rPr>
              <a:t>normalised to a maximum of 1</a:t>
            </a:r>
            <a:r>
              <a:rPr sz="1100" b="0">
                <a:solidFill>
                  <a:srgbClr val="262626"/>
                </a:solidFill>
              </a:rPr>
              <a:t>, so we cannot tell what they are: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100" b="0">
                <a:solidFill>
                  <a:srgbClr val="262626"/>
                </a:solidFill>
              </a:rPr>
              <a:t>a </a:t>
            </a:r>
            <a:r>
              <a:rPr sz="1100" b="1">
                <a:solidFill>
                  <a:srgbClr val="262626"/>
                </a:solidFill>
              </a:rPr>
              <a:t>central cut</a:t>
            </a:r>
            <a:r>
              <a:rPr sz="1100" b="0">
                <a:solidFill>
                  <a:srgbClr val="262626"/>
                </a:solidFill>
              </a:rPr>
              <a:t> through the 2D spot, or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100" b="0">
                <a:solidFill>
                  <a:srgbClr val="262626"/>
                </a:solidFill>
              </a:rPr>
              <a:t>a </a:t>
            </a:r>
            <a:r>
              <a:rPr sz="1100" b="1">
                <a:solidFill>
                  <a:srgbClr val="262626"/>
                </a:solidFill>
              </a:rPr>
              <a:t>projection</a:t>
            </a:r>
            <a:r>
              <a:rPr sz="1100" b="0">
                <a:solidFill>
                  <a:srgbClr val="262626"/>
                </a:solidFill>
              </a:rPr>
              <a:t> (integrated over the other axis)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100" b="0">
                <a:solidFill>
                  <a:srgbClr val="262626"/>
                </a:solidFill>
              </a:rPr>
              <a:t>The same fitted a₁, σ₁, a₂, σ₂ give a 10× different matRad weight: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6344" y="2514600"/>
          <a:ext cx="4206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78308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If the profile is…</a:t>
                      </a:r>
                    </a:p>
                  </a:txBody>
                  <a:tcPr marL="45720" marR="45720" marT="22860" marB="22860" anchor="ctr">
                    <a:solidFill>
                      <a:srgbClr val="19285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matRad weight</a:t>
                      </a:r>
                    </a:p>
                  </a:txBody>
                  <a:tcPr marL="45720" marR="45720" marT="22860" marB="22860" anchor="ctr">
                    <a:solidFill>
                      <a:srgbClr val="19285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Range (58 energies)</a:t>
                      </a:r>
                    </a:p>
                  </a:txBody>
                  <a:tcPr marL="45720" marR="45720" marT="22860" marB="22860" anchor="ctr">
                    <a:solidFill>
                      <a:srgbClr val="19285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a central cut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a₂σ₂² / (a₁σ₁² + a₂σ₂²)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</a:rPr>
                        <a:t>0.38 – 0.51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a projection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a₂σ₂ / (a₁σ₁ + a₂σ₂)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</a:rPr>
                        <a:t>0.04 – 0.07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0" y="1280160"/>
            <a:ext cx="3657600" cy="1143000"/>
          </a:xfrm>
          <a:prstGeom prst="roundRect">
            <a:avLst>
              <a:gd name="adj" fmla="val 12000"/>
            </a:avLst>
          </a:prstGeom>
          <a:solidFill>
            <a:srgbClr val="C0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100" b="1">
                <a:solidFill>
                  <a:srgbClr val="FFFFFF"/>
                </a:solidFill>
              </a:rPr>
              <a:t>We used the cut (≈ 0.5).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A projection would give a halo 10× weaker, much closer to what a real spot looks like.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606040"/>
            <a:ext cx="3657600" cy="1005840"/>
          </a:xfrm>
          <a:prstGeom prst="roundRect">
            <a:avLst>
              <a:gd name="adj" fmla="val 12000"/>
            </a:avLst>
          </a:prstGeom>
          <a:solidFill>
            <a:srgbClr val="192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100" b="1">
                <a:solidFill>
                  <a:srgbClr val="FFFFFF"/>
                </a:solidFill>
              </a:rPr>
              <a:t>Question for Alaina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How were the profiles scored? A line through the centre, or a sum over the full width?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" y="3749039"/>
            <a:ext cx="82296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</a:rPr>
              <a:t>Either way, the weight comes from air and stays constant with depth. The fix needs dose in water (scoring C, below).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Two more issues in the current machine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1188720"/>
            <a:ext cx="402336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92858"/>
                </a:solidFill>
              </a:rPr>
              <a:t>1. initFocus is mirrored in Z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matRad's initFocus.dist is the distance </a:t>
            </a:r>
            <a:r>
              <a:rPr sz="1000" b="1">
                <a:solidFill>
                  <a:srgbClr val="262626"/>
                </a:solidFill>
              </a:rPr>
              <a:t>from the source</a:t>
            </a:r>
            <a:r>
              <a:rPr sz="1000" b="0">
                <a:solidFill>
                  <a:srgbClr val="262626"/>
                </a:solidFill>
              </a:rPr>
              <a:t> (increasing downstream). Alaina's Z is positive downstream.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Correct: </a:t>
            </a:r>
            <a:r>
              <a:rPr sz="1000" b="1">
                <a:solidFill>
                  <a:srgbClr val="262626"/>
                </a:solidFill>
              </a:rPr>
              <a:t>dist = SAD + Z</a:t>
            </a:r>
            <a:r>
              <a:rPr sz="1000" b="0">
                <a:solidFill>
                  <a:srgbClr val="262626"/>
                </a:solidFill>
              </a:rPr>
              <a:t>. Script has </a:t>
            </a:r>
            <a:r>
              <a:rPr sz="1000" b="1">
                <a:solidFill>
                  <a:srgbClr val="262626"/>
                </a:solidFill>
              </a:rPr>
              <a:t>SAD − Z</a:t>
            </a:r>
            <a:r>
              <a:rPr sz="1000" b="0">
                <a:solidFill>
                  <a:srgbClr val="262626"/>
                </a:solidFill>
              </a:rPr>
              <a:t> (inherited from the first DWA machine).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The convergence/divergence is reversed. Effect at the phantom surface:</a:t>
            </a:r>
          </a:p>
          <a:p>
            <a:pPr marL="310896" indent="-128016">
              <a:spcAft>
                <a:spcPts val="400"/>
              </a:spcAft>
              <a:buChar char="–"/>
            </a:pPr>
            <a:r>
              <a:rPr sz="900" b="0">
                <a:solidFill>
                  <a:srgbClr val="262626"/>
                </a:solidFill>
              </a:rPr>
              <a:t>20 MeV: σ ≈ 6.6 mm (now) vs ≈ 4.1 mm (correct)</a:t>
            </a:r>
          </a:p>
          <a:p>
            <a:pPr marL="310896" indent="-128016">
              <a:spcAft>
                <a:spcPts val="400"/>
              </a:spcAft>
              <a:buChar char="–"/>
            </a:pPr>
            <a:r>
              <a:rPr sz="900" b="0">
                <a:solidFill>
                  <a:srgbClr val="262626"/>
                </a:solidFill>
              </a:rPr>
              <a:t>149 MeV: σ ≈ 1.1 mm (now) vs ≈ 1.5 mm (correct)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Depth-dose is not affected. The fix is ready, as </a:t>
            </a:r>
            <a:r>
              <a:rPr sz="1000" b="1">
                <a:solidFill>
                  <a:srgbClr val="262626"/>
                </a:solidFill>
              </a:rPr>
              <a:t>v2</a:t>
            </a:r>
            <a:r>
              <a:rPr sz="1000" b="0">
                <a:solidFill>
                  <a:srgbClr val="262626"/>
                </a:solidFill>
              </a:rPr>
              <a:t> (new machine name).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93192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92858"/>
                </a:solidFill>
              </a:rPr>
              <a:t>2. The spot is not round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TRANSOPTR focuses X and Y differently (next section).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Air profiles at isocentre, 149 MeV: </a:t>
            </a:r>
            <a:r>
              <a:rPr sz="1000" b="1">
                <a:solidFill>
                  <a:srgbClr val="262626"/>
                </a:solidFill>
              </a:rPr>
              <a:t>X ≈ 1.0 mm</a:t>
            </a:r>
            <a:r>
              <a:rPr sz="1000" b="0">
                <a:solidFill>
                  <a:srgbClr val="262626"/>
                </a:solidFill>
              </a:rPr>
              <a:t>, </a:t>
            </a:r>
            <a:r>
              <a:rPr sz="1000" b="1">
                <a:solidFill>
                  <a:srgbClr val="262626"/>
                </a:solidFill>
              </a:rPr>
              <a:t>Y ≈ 1.3 mm</a:t>
            </a:r>
            <a:r>
              <a:rPr sz="1000" b="0">
                <a:solidFill>
                  <a:srgbClr val="262626"/>
                </a:solidFill>
              </a:rPr>
              <a:t>.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matRad's double Gaussian is round, so we use the average of X and Y.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Effect: small for fields (spots overlap), visible for single spots.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C0233B"/>
                </a:solidFill>
              </a:rPr>
              <a:t>Neither issue explains Remo's penumbra. That comes from the halo weight.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TRANSOPTR beam input to TOPAS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Jamiel's beam optics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B7686F0-0AEB-9ACC-5CAE-80C1CD129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t>Mirta Dumancic, PhD    I 10/14/26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What TOPAS gets from TRANSOPTR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1188720"/>
            <a:ext cx="457200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</a:rPr>
              <a:t>One row per energy (58 rows, 20 → 228.7 MeV), at the nozzle exit window, 550 mm upstream of isocentre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1">
                <a:solidFill>
                  <a:srgbClr val="262626"/>
                </a:solidFill>
              </a:rPr>
              <a:t>Achieved energy</a:t>
            </a:r>
            <a:r>
              <a:rPr sz="1000" b="0">
                <a:solidFill>
                  <a:srgbClr val="262626"/>
                </a:solidFill>
              </a:rPr>
              <a:t>: what the DWA delivers (≈ requested + 0.01–0.14 MeV)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1">
                <a:solidFill>
                  <a:srgbClr val="262626"/>
                </a:solidFill>
              </a:rPr>
              <a:t>ε (1-rms emittance)</a:t>
            </a:r>
            <a:r>
              <a:rPr sz="1000" b="0">
                <a:solidFill>
                  <a:srgbClr val="262626"/>
                </a:solidFill>
              </a:rPr>
              <a:t> in X and Y: the area of the beam in position–angle space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1">
                <a:solidFill>
                  <a:srgbClr val="262626"/>
                </a:solidFill>
              </a:rPr>
              <a:t>Twiss α, β, γ</a:t>
            </a:r>
            <a:r>
              <a:rPr sz="1000" b="0">
                <a:solidFill>
                  <a:srgbClr val="262626"/>
                </a:solidFill>
              </a:rPr>
              <a:t>: the shape and tilt of that area. σ = √(εβ), σ′ = √(εγ). </a:t>
            </a:r>
            <a:r>
              <a:rPr sz="1000" b="1">
                <a:solidFill>
                  <a:srgbClr val="262626"/>
                </a:solidFill>
              </a:rPr>
              <a:t>α &gt; 0 means converging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1">
                <a:solidFill>
                  <a:srgbClr val="262626"/>
                </a:solidFill>
              </a:rPr>
              <a:t>dE/E</a:t>
            </a:r>
            <a:r>
              <a:rPr sz="1000" b="0">
                <a:solidFill>
                  <a:srgbClr val="262626"/>
                </a:solidFill>
              </a:rPr>
              <a:t>: energy spread (1-rms)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1">
                <a:solidFill>
                  <a:srgbClr val="262626"/>
                </a:solidFill>
              </a:rPr>
              <a:t>σ at isocentre</a:t>
            </a:r>
            <a:r>
              <a:rPr sz="1000" b="0">
                <a:solidFill>
                  <a:srgbClr val="262626"/>
                </a:solidFill>
              </a:rPr>
              <a:t> in X and Y: </a:t>
            </a:r>
            <a:r>
              <a:rPr sz="1000" b="1">
                <a:solidFill>
                  <a:srgbClr val="262626"/>
                </a:solidFill>
              </a:rPr>
              <a:t>1.000 mm</a:t>
            </a:r>
            <a:r>
              <a:rPr sz="1000" b="0">
                <a:solidFill>
                  <a:srgbClr val="262626"/>
                </a:solidFill>
              </a:rPr>
              <a:t> for every energy (the design target)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92858"/>
                </a:solidFill>
              </a:rPr>
              <a:t>TOPAS samples a pure Gaussian beam from these numbers. There is </a:t>
            </a:r>
            <a:r>
              <a:rPr sz="1000" b="1">
                <a:solidFill>
                  <a:srgbClr val="192858"/>
                </a:solidFill>
              </a:rPr>
              <a:t>no halo in the input</a:t>
            </a:r>
            <a:r>
              <a:rPr sz="1000" b="0">
                <a:solidFill>
                  <a:srgbClr val="192858"/>
                </a:solidFill>
              </a:rPr>
              <a:t>, so any halo in Alaina's profiles is made in the nozzle and air.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0" y="1234440"/>
          <a:ext cx="3520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Check (our propagation)</a:t>
                      </a:r>
                    </a:p>
                  </a:txBody>
                  <a:tcPr marL="45720" marR="45720" marT="22860" marB="22860" anchor="ctr">
                    <a:solidFill>
                      <a:srgbClr val="19285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45720" marR="45720" marT="22860" marB="22860" anchor="ctr">
                    <a:solidFill>
                      <a:srgbClr val="19285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σ(z) = √(ε(β − 2αz + γz²)), z = 550 mm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σ at iso = </a:t>
                      </a:r>
                      <a:r>
                        <a:rPr sz="900" b="1">
                          <a:solidFill>
                            <a:srgbClr val="262626"/>
                          </a:solidFill>
                        </a:rPr>
                        <a:t>1.000 mm</a:t>
                      </a:r>
                      <a:r>
                        <a:rPr sz="900" b="0">
                          <a:solidFill>
                            <a:srgbClr val="262626"/>
                          </a:solidFill>
                        </a:rPr>
                        <a:t> (X and Y, all energies)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εₙ = βγ·ε (normalised)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≈ </a:t>
                      </a:r>
                      <a:r>
                        <a:rPr sz="900" b="1">
                          <a:solidFill>
                            <a:srgbClr val="262626"/>
                          </a:solidFill>
                        </a:rPr>
                        <a:t>0.078 mm·mrad</a:t>
                      </a:r>
                      <a:r>
                        <a:rPr sz="900" b="0">
                          <a:solidFill>
                            <a:srgbClr val="262626"/>
                          </a:solidFill>
                        </a:rPr>
                        <a:t>, constant (adiabatic damping)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Air cores upstream vs vacuum propagation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Agree: confirms </a:t>
                      </a:r>
                      <a:r>
                        <a:rPr sz="900" b="1">
                          <a:solidFill>
                            <a:srgbClr val="262626"/>
                          </a:solidFill>
                        </a:rPr>
                        <a:t>+Z = downstream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Emittance and Twiss parameters vs energy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pic>
        <p:nvPicPr>
          <p:cNvPr id="5" name="Picture 4" descr="2_twiss_parameters_vs_ener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64" y="1097280"/>
            <a:ext cx="5163312" cy="3520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63640" y="1188720"/>
            <a:ext cx="256032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Geometric emittance falls with energy, normalised emittance is flat (≈ 0.078 mm·mrad): textbook adiabatic damping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Large α in X (190–300): X is strongly converging at the exit window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Step between 35 and 38 MeV: the optics were retuned there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Spot size, divergence and waist position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pic>
        <p:nvPicPr>
          <p:cNvPr id="5" name="Picture 4" descr="3_spot_size_divergence_wa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4" y="1097280"/>
            <a:ext cx="8172450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344" y="3657600"/>
            <a:ext cx="8229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σ = 1.000 mm at isocentre in both planes, by design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X waist 80–180 mm </a:t>
            </a:r>
            <a:r>
              <a:rPr sz="1000" b="1">
                <a:solidFill>
                  <a:srgbClr val="262626"/>
                </a:solidFill>
              </a:rPr>
              <a:t>past</a:t>
            </a:r>
            <a:r>
              <a:rPr sz="1000" b="0">
                <a:solidFill>
                  <a:srgbClr val="262626"/>
                </a:solidFill>
              </a:rPr>
              <a:t> isocentre; Y waist 0.4–0.9 m past isocentre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So X and Y spots change differently with depth: the spot is not round off isocentre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Phase-space ellipses at 149 MeV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pic>
        <p:nvPicPr>
          <p:cNvPr id="5" name="Picture 4" descr="5_phase_space_ellipses_149Me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54176"/>
            <a:ext cx="5760720" cy="24066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63640" y="1188720"/>
            <a:ext cx="256032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Ellipse at the exit window and at isocentre, X and Y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Tilted ellipse = converging beam (α &gt; 0)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This is exactly what TOPAS samples: a Gaussian in position and angle, no halo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Achieved energy and energy spread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pic>
        <p:nvPicPr>
          <p:cNvPr id="5" name="Picture 4" descr="4_energy_and_energy_spr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4" y="1097280"/>
            <a:ext cx="6915150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344" y="3657600"/>
            <a:ext cx="8229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Achieved energy ≈ requested (Δ ≤ 0.14 MeV); matRad uses the achieved value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dE/E = 0.044–0.060 % (1-rms): very narrow. Range straggling dominates the Bragg peak width, not the beam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Compare with energySpectrum (σ in %) in the matRad machine file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Beam envelope from the exit window to isocentre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pic>
        <p:nvPicPr>
          <p:cNvPr id="5" name="Picture 4" descr="1_beam_envelope_x_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842" y="1097280"/>
            <a:ext cx="6566314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344" y="3657600"/>
            <a:ext cx="8229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σ(z) in X and Y for selected energies, vacuum propagation of the TRANSOPTR beam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Dots: cores fitted to Alaina's air profiles (DWA_SpotProfiles.csv)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Upstream cores follow the vacuum envelope: confirms the sign of Z and that the core is optics, not scatter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Scoring in TOPAS for matRad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 proposal, from scratch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B7686F0-0AEB-9ACC-5CAE-80C1CD129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t>Mirta Dumancic, PhD    I 10/14/26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Where the DWA beam goes: nozzle, snout, isocentre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pic>
        <p:nvPicPr>
          <p:cNvPr id="5" name="Picture 4" descr="nozz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7450"/>
            <a:ext cx="5760720" cy="33886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63640" y="1188720"/>
            <a:ext cx="256032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146304" indent="-128016">
              <a:spcAft>
                <a:spcPts val="400"/>
              </a:spcAft>
              <a:buChar char="•"/>
            </a:pPr>
            <a:r>
              <a:rPr sz="1000" b="1">
                <a:solidFill>
                  <a:srgbClr val="262626"/>
                </a:solidFill>
              </a:rPr>
              <a:t>Snout</a:t>
            </a:r>
            <a:r>
              <a:rPr sz="1000" b="0">
                <a:solidFill>
                  <a:srgbClr val="262626"/>
                </a:solidFill>
              </a:rPr>
              <a:t>: the last piece of the nozzle (brass, bore radius 50 mm). matRad's BAMStoIsoDist is measured from here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1">
                <a:solidFill>
                  <a:srgbClr val="262626"/>
                </a:solidFill>
              </a:rPr>
              <a:t>550 mm</a:t>
            </a:r>
            <a:r>
              <a:rPr sz="1000" b="0">
                <a:solidFill>
                  <a:srgbClr val="262626"/>
                </a:solidFill>
              </a:rPr>
              <a:t> exit window → isocentre; </a:t>
            </a:r>
            <a:r>
              <a:rPr sz="1000" b="1">
                <a:solidFill>
                  <a:srgbClr val="262626"/>
                </a:solidFill>
              </a:rPr>
              <a:t>400 mm</a:t>
            </a:r>
            <a:r>
              <a:rPr sz="1000" b="0">
                <a:solidFill>
                  <a:srgbClr val="262626"/>
                </a:solidFill>
              </a:rPr>
              <a:t> snout → isocentre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Alaina's current runs: profiles in </a:t>
            </a:r>
            <a:r>
              <a:rPr sz="1000" b="1">
                <a:solidFill>
                  <a:srgbClr val="262626"/>
                </a:solidFill>
              </a:rPr>
              <a:t>air</a:t>
            </a:r>
            <a:r>
              <a:rPr sz="1000" b="0">
                <a:solidFill>
                  <a:srgbClr val="262626"/>
                </a:solidFill>
              </a:rPr>
              <a:t> around isocentre, Bragg curves in </a:t>
            </a:r>
            <a:r>
              <a:rPr sz="1000" b="1">
                <a:solidFill>
                  <a:srgbClr val="262626"/>
                </a:solidFill>
              </a:rPr>
              <a:t>water</a:t>
            </a:r>
            <a:r>
              <a:rPr sz="1000" b="0">
                <a:solidFill>
                  <a:srgbClr val="262626"/>
                </a:solidFill>
              </a:rPr>
              <a:t> at isocentre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matRad needs the lateral profile </a:t>
            </a:r>
            <a:r>
              <a:rPr sz="1000" b="1">
                <a:solidFill>
                  <a:srgbClr val="262626"/>
                </a:solidFill>
              </a:rPr>
              <a:t>in water</a:t>
            </a:r>
            <a:r>
              <a:rPr sz="1000" b="0">
                <a:solidFill>
                  <a:srgbClr val="262626"/>
                </a:solidFill>
              </a:rPr>
              <a:t>, at each depth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Proposed scoring: air runs and water runs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pic>
        <p:nvPicPr>
          <p:cNvPr id="5" name="Picture 4" descr="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16" y="1051560"/>
            <a:ext cx="4254366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0" y="1143000"/>
            <a:ext cx="3566160" cy="3383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92858"/>
                </a:solidFill>
              </a:rPr>
              <a:t>Air runs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1">
                <a:solidFill>
                  <a:srgbClr val="262626"/>
                </a:solidFill>
              </a:rPr>
              <a:t>A</a:t>
            </a:r>
            <a:r>
              <a:rPr sz="1000" b="0">
                <a:solidFill>
                  <a:srgbClr val="262626"/>
                </a:solidFill>
              </a:rPr>
              <a:t> phase space after the snout (Z ≈ −375 mm): reusable source for every later run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1">
                <a:solidFill>
                  <a:srgbClr val="262626"/>
                </a:solidFill>
              </a:rPr>
              <a:t>B</a:t>
            </a:r>
            <a:r>
              <a:rPr sz="1000" b="0">
                <a:solidFill>
                  <a:srgbClr val="262626"/>
                </a:solidFill>
              </a:rPr>
              <a:t> 2D x–y fluence maps every 50 mm, snout to +300 mm: gives initFocus in X and Y, and tells cut vs projection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92858"/>
                </a:solidFill>
              </a:rPr>
              <a:t>Water runs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1">
                <a:solidFill>
                  <a:srgbClr val="262626"/>
                </a:solidFill>
              </a:rPr>
              <a:t>C</a:t>
            </a:r>
            <a:r>
              <a:rPr sz="1000" b="0">
                <a:solidFill>
                  <a:srgbClr val="262626"/>
                </a:solidFill>
              </a:rPr>
              <a:t> dose in r–z bins, water cylinder, surface at isocentre, r ≥ 150 mm, </a:t>
            </a:r>
            <a:r>
              <a:rPr sz="1000" b="1">
                <a:solidFill>
                  <a:srgbClr val="262626"/>
                </a:solidFill>
              </a:rPr>
              <a:t>absolute</a:t>
            </a:r>
            <a:r>
              <a:rPr sz="1000" b="0">
                <a:solidFill>
                  <a:srgbClr val="262626"/>
                </a:solidFill>
              </a:rPr>
              <a:t> per primary: gives Z, σ1(z), σ2(z), weight(z)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1">
                <a:solidFill>
                  <a:srgbClr val="262626"/>
                </a:solidFill>
              </a:rPr>
              <a:t>D</a:t>
            </a:r>
            <a:r>
              <a:rPr sz="1000" b="0">
                <a:solidFill>
                  <a:srgbClr val="262626"/>
                </a:solidFill>
              </a:rPr>
              <a:t> dose-averaged LET on the same bins: gives machine.data.LET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Scoring details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8321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965960"/>
                <a:gridCol w="2103120"/>
                <a:gridCol w="1783080"/>
                <a:gridCol w="2148840"/>
              </a:tblGrid>
              <a:tr h="475488">
                <a:tc>
                  <a:txBody>
                    <a:bodyPr wrap="square"/>
                    <a:lstStyle/>
                    <a:p/>
                  </a:txBody>
                  <a:tcPr marL="45720" marR="45720" marT="22860" marB="22860" anchor="ctr">
                    <a:solidFill>
                      <a:srgbClr val="19285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What</a:t>
                      </a:r>
                    </a:p>
                  </a:txBody>
                  <a:tcPr marL="45720" marR="45720" marT="22860" marB="22860" anchor="ctr">
                    <a:solidFill>
                      <a:srgbClr val="19285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45720" marR="45720" marT="22860" marB="22860" anchor="ctr">
                    <a:solidFill>
                      <a:srgbClr val="19285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Binning</a:t>
                      </a:r>
                    </a:p>
                  </a:txBody>
                  <a:tcPr marL="45720" marR="45720" marT="22860" marB="22860" anchor="ctr">
                    <a:solidFill>
                      <a:srgbClr val="19285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Gives matRad</a:t>
                      </a:r>
                    </a:p>
                  </a:txBody>
                  <a:tcPr marL="45720" marR="45720" marT="22860" marB="22860" anchor="ctr">
                    <a:solidFill>
                      <a:srgbClr val="19285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0233B"/>
                          </a:solidFill>
                        </a:rPr>
                        <a:t>A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Phase space (x, y, x′, y′, E, particle)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Plane after the snout, Z ≈ −375 mm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Re-usable source; check of the beamline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0233B"/>
                          </a:solidFill>
                        </a:rPr>
                        <a:t>B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Fluence: primary protons and all particles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x–y planes every 50 mm, snout → +300 mm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0.25–0.5 mm, ±80 mm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initFocus (X, Y separately); halo in air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0233B"/>
                          </a:solidFill>
                        </a:rPr>
                        <a:t>C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Dose to water, absolute (Gy per primary)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Water cylinder, surface at iso, r ≥ 150 mm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r: 0.5 mm; z: 1 mm (0.5 mm below 80 MeV)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Z(z); σ1, σ2, weight vs depth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0233B"/>
                          </a:solidFill>
                        </a:rPr>
                        <a:t>D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Dose-averaged LET, protons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Same cylinder and bins as C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Same as C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machine.data.LET (keV/µm)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6344" y="3611880"/>
            <a:ext cx="8229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146304" indent="-128016">
              <a:spcAft>
                <a:spcPts val="400"/>
              </a:spcAft>
              <a:buChar char="•"/>
            </a:pPr>
            <a:r>
              <a:rPr sz="1000" b="1">
                <a:solidFill>
                  <a:srgbClr val="262626"/>
                </a:solidFill>
              </a:rPr>
              <a:t>Energies:</a:t>
            </a:r>
            <a:r>
              <a:rPr sz="1000" b="0">
                <a:solidFill>
                  <a:srgbClr val="262626"/>
                </a:solidFill>
              </a:rPr>
              <a:t> all 58 for C and D; 10–15 spread over the range for A and B. </a:t>
            </a:r>
            <a:r>
              <a:rPr sz="1000" b="1">
                <a:solidFill>
                  <a:srgbClr val="262626"/>
                </a:solidFill>
              </a:rPr>
              <a:t>Histories:</a:t>
            </a:r>
            <a:r>
              <a:rPr sz="1000" b="0">
                <a:solidFill>
                  <a:srgbClr val="262626"/>
                </a:solidFill>
              </a:rPr>
              <a:t> ~1e7 primaries per energy for the lateral fits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1">
                <a:solidFill>
                  <a:srgbClr val="262626"/>
                </a:solidFill>
              </a:rPr>
              <a:t>Priority:</a:t>
            </a:r>
            <a:r>
              <a:rPr sz="1000" b="0">
                <a:solidFill>
                  <a:srgbClr val="262626"/>
                </a:solidFill>
              </a:rPr>
              <a:t> C &gt; B &gt; D &gt; A. C alone fixes Remo's penumbra; B fixes initFocus and X/Y; D is needed for LET planning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From TOPAS output to the matRad machine file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1188720"/>
            <a:ext cx="420624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92858"/>
                </a:solidFill>
              </a:rPr>
              <a:t>Depth dose (from C)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Sum dose over r in each z slice: ∫D dA [Gy·cm²/primary]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1">
                <a:solidFill>
                  <a:srgbClr val="262626"/>
                </a:solidFill>
              </a:rPr>
              <a:t>Z [MeV·cm²/g per primary] = ∫D dA × 6.2415e9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Absolute: no more relative curves; r ≥ 150 mm catches the halo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92858"/>
                </a:solidFill>
              </a:rPr>
              <a:t>Lateral (from C, then B)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Fit D(r) at each depth with two Gaussians: σ1(z), σ2(z), weight(z)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Store as sigma1, sigma2, weight (vectors over depths), as in matRad's generic machine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B gives initFocus (σ in air vs distance) for X and 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280160"/>
            <a:ext cx="3749039" cy="1463040"/>
          </a:xfrm>
          <a:prstGeom prst="roundRect">
            <a:avLst>
              <a:gd name="adj" fmla="val 12000"/>
            </a:avLst>
          </a:prstGeom>
          <a:solidFill>
            <a:srgbClr val="192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100" b="1">
                <a:solidFill>
                  <a:srgbClr val="FFFFFF"/>
                </a:solidFill>
              </a:rPr>
              <a:t>What changes for matRad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weight becomes small at the surface and grows towards the Bragg peak, as Remo expects. The penumbra steepens, and the 20 % shoulder goes away.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926080"/>
            <a:ext cx="3749039" cy="1188720"/>
          </a:xfrm>
          <a:prstGeom prst="roundRect">
            <a:avLst>
              <a:gd name="adj" fmla="val 12000"/>
            </a:avLst>
          </a:prstGeom>
          <a:solidFill>
            <a:srgbClr val="74A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100" b="1">
                <a:solidFill>
                  <a:srgbClr val="FFFFFF"/>
                </a:solidFill>
              </a:rPr>
              <a:t>Naming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New physics = new machine name (e.g. DWA_proton_TOPASwater_v1). Old machine stays for comparison.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LET scoring (D)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1188720"/>
            <a:ext cx="420624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92858"/>
                </a:solidFill>
              </a:rPr>
              <a:t>In TOPAS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Scorer: </a:t>
            </a:r>
            <a:r>
              <a:rPr sz="1000" b="1">
                <a:solidFill>
                  <a:srgbClr val="262626"/>
                </a:solidFill>
              </a:rPr>
              <a:t>ProtonLET</a:t>
            </a:r>
            <a:r>
              <a:rPr sz="1000" b="0">
                <a:solidFill>
                  <a:srgbClr val="262626"/>
                </a:solidFill>
              </a:rPr>
              <a:t>, weighted by dose (LETd)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Same r–z cylinder and bins as the dose scorer C, so dose and LET line up voxel by voxel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Score protons only (primary + secondary). Keep the dose map, it is needed for averaging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Output in MeV/mm (in water, 1 MeV/mm = 1 keV/µm)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92858"/>
                </a:solidFill>
              </a:rPr>
              <a:t>Into matRad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Plane average per depth: </a:t>
            </a:r>
            <a:r>
              <a:rPr sz="1000" b="1">
                <a:solidFill>
                  <a:srgbClr val="262626"/>
                </a:solidFill>
              </a:rPr>
              <a:t>LETd(z) = Σ D·LET / Σ D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Store as machine.data(i).LET in keV/µm, on the same depths as Z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1280160"/>
          <a:ext cx="37490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331720"/>
              </a:tblGrid>
              <a:tr h="502920">
                <a:tc gridSpan="2"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 marL="45720" marR="45720" marT="22860" marB="22860" anchor="ctr">
                    <a:solidFill>
                      <a:srgbClr val="192858"/>
                    </a:solidFill>
                  </a:tcPr>
                </a:tc>
                <a:tc hMerge="1">
                  <a:txBody>
                    <a:bodyPr wrap="square"/>
                    <a:lstStyle/>
                    <a:p/>
                  </a:txBody>
                  <a:tcPr marL="45720" marR="45720" marT="22860" marB="22860" anchor="ctr">
                    <a:solidFill>
                      <a:srgbClr val="19285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LET-based planning with Remo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matRad needs machine.data.LET to compute LET and variable-RBE dose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Generic machine has LET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DWA must have it too, for a fair comparison</a:t>
                      </a:r>
                    </a:p>
                  </a:txBody>
                  <a:tcPr marL="45720" marR="45720" marT="22860" marB="22860" anchor="ctr">
                    <a:solidFill>
                      <a:srgbClr val="EEF2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Same run as C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</a:rPr>
                        <a:t>No extra simulation: add one scorer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0" y="3429000"/>
            <a:ext cx="3749039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</a:rPr>
              <a:t>Check: LETd at the Bragg peak should rise steeply towards the distal edge (lowest at the entrance, ≈ 0.5–3 keV/µm depending on energy).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ext cx="8229600" cy="0"/>
          </a:xfrm>
        </p:spPr>
        <p:txBody>
          <a:bodyPr/>
          <a:lstStyle/>
          <a:p>
            <a:r>
              <a:t>Questions for Alaina &amp; Remo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2CDED1-053F-258E-6A94-64D2C30A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670" y="4731545"/>
            <a:ext cx="5117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Mirta Dumancic, PhD    I 10/14/26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1188720"/>
            <a:ext cx="411480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92858"/>
                </a:solidFill>
              </a:rPr>
              <a:t>For Alaina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Are the lateral profiles a </a:t>
            </a:r>
            <a:r>
              <a:rPr sz="1000" b="1">
                <a:solidFill>
                  <a:srgbClr val="262626"/>
                </a:solidFill>
              </a:rPr>
              <a:t>central cut</a:t>
            </a:r>
            <a:r>
              <a:rPr sz="1000" b="0">
                <a:solidFill>
                  <a:srgbClr val="262626"/>
                </a:solidFill>
              </a:rPr>
              <a:t> or a </a:t>
            </a:r>
            <a:r>
              <a:rPr sz="1000" b="1">
                <a:solidFill>
                  <a:srgbClr val="262626"/>
                </a:solidFill>
              </a:rPr>
              <a:t>projection</a:t>
            </a:r>
            <a:r>
              <a:rPr sz="1000" b="0">
                <a:solidFill>
                  <a:srgbClr val="262626"/>
                </a:solidFill>
              </a:rPr>
              <a:t>?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Exit window: material and thickness (the file lists Air under a Mylar comment)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Which lateral model did RayStation fit (single, double Gaussian)?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Can you rerun with scorers </a:t>
            </a:r>
            <a:r>
              <a:rPr sz="1000" b="1">
                <a:solidFill>
                  <a:srgbClr val="262626"/>
                </a:solidFill>
              </a:rPr>
              <a:t>A–D</a:t>
            </a:r>
            <a:r>
              <a:rPr sz="1000" b="0">
                <a:solidFill>
                  <a:srgbClr val="262626"/>
                </a:solidFill>
              </a:rPr>
              <a:t>? Can the dose be absolute per primary?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Is BAMStoIsoDist 400 mm (snout) or 550 mm (exit window)?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93192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92858"/>
                </a:solidFill>
              </a:rPr>
              <a:t>For Remo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Depth-dependent sigma1/sigma2/weight: same format as the generic machine?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LET: what depth and energy resolution does matRad need?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Should we thin the energy layers in the steering file (stf)?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00" b="0">
                <a:solidFill>
                  <a:srgbClr val="262626"/>
                </a:solidFill>
              </a:rPr>
              <a:t>OK to release the initFocus fix now as </a:t>
            </a:r>
            <a:r>
              <a:rPr sz="1000" b="1">
                <a:solidFill>
                  <a:srgbClr val="262626"/>
                </a:solidFill>
              </a:rPr>
              <a:t>v2</a:t>
            </a:r>
            <a:r>
              <a:rPr sz="1000" b="0">
                <a:solidFill>
                  <a:srgbClr val="262626"/>
                </a:solidFill>
              </a:rPr>
              <a:t>, before the new TOPAS data?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HN Theme-0825">
  <a:themeElements>
    <a:clrScheme name="UHN Theme-Aug2025 1">
      <a:dk1>
        <a:srgbClr val="192858"/>
      </a:dk1>
      <a:lt1>
        <a:srgbClr val="FFFFFF"/>
      </a:lt1>
      <a:dk2>
        <a:srgbClr val="000000"/>
      </a:dk2>
      <a:lt2>
        <a:srgbClr val="E4E4E4"/>
      </a:lt2>
      <a:accent1>
        <a:srgbClr val="192858"/>
      </a:accent1>
      <a:accent2>
        <a:srgbClr val="C0233B"/>
      </a:accent2>
      <a:accent3>
        <a:srgbClr val="C48ABD"/>
      </a:accent3>
      <a:accent4>
        <a:srgbClr val="245BAA"/>
      </a:accent4>
      <a:accent5>
        <a:srgbClr val="74AE54"/>
      </a:accent5>
      <a:accent6>
        <a:srgbClr val="192858"/>
      </a:accent6>
      <a:hlink>
        <a:srgbClr val="005DAF"/>
      </a:hlink>
      <a:folHlink>
        <a:srgbClr val="192858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HN Theme-0825" id="{3744C9E2-7A51-9A42-9C8F-4CB4580F023D}" vid="{1DD8BB3D-7CA2-BC44-98BF-CDD0A31C48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A4AC370B5CB54E81BBBCD5023FE132" ma:contentTypeVersion="7" ma:contentTypeDescription="Create a new document." ma:contentTypeScope="" ma:versionID="7e31e11b5814927e877b588a782feba9">
  <xsd:schema xmlns:xsd="http://www.w3.org/2001/XMLSchema" xmlns:xs="http://www.w3.org/2001/XMLSchema" xmlns:p="http://schemas.microsoft.com/office/2006/metadata/properties" xmlns:ns2="42c2f66a-2f71-4ea5-a10c-1bf14673147f" targetNamespace="http://schemas.microsoft.com/office/2006/metadata/properties" ma:root="true" ma:fieldsID="3191655910b2fc3c3e5a9b81dda18181" ns2:_="">
    <xsd:import namespace="42c2f66a-2f71-4ea5-a10c-1bf1467314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c2f66a-2f71-4ea5-a10c-1bf1467314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9070FC4-4805-4443-ACC5-D590910513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940B08-8643-4653-82F2-021D58C7A0F4}">
  <ds:schemaRefs>
    <ds:schemaRef ds:uri="42c2f66a-2f71-4ea5-a10c-1bf14673147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054E6EE-5524-4100-8ACA-607993C38B0B}">
  <ds:schemaRefs>
    <ds:schemaRef ds:uri="334c39ef-7849-45d1-9257-c81bad3add3f"/>
    <ds:schemaRef ds:uri="360acdcc-b06f-4b66-a27f-59e95e1211f1"/>
    <ds:schemaRef ds:uri="b55e7bc8-ff85-4e38-92d8-2b36507c29f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UHN Theme-0825</vt:lpstr>
      <vt:lpstr>Beyond RBE=1.1 treatment planning for DWA protons</vt:lpstr>
      <vt:lpstr>Status Updates for the Seuntjens Lab</vt:lpstr>
      <vt:lpstr>Validation of DWA against a generic proton machine in a water phantom</vt:lpstr>
      <vt:lpstr>Commissioning the machine</vt:lpstr>
      <vt:lpstr>Beam Model in matRad</vt:lpstr>
      <vt:lpstr>SOBP check</vt:lpstr>
      <vt:lpstr>Comparison with a generic proton machine (not a real machine = synchrotron!) </vt:lpstr>
      <vt:lpstr>Latest version</vt:lpstr>
      <vt:lpstr>Latest version</vt:lpstr>
    </vt:vector>
  </TitlesOfParts>
  <Company>UHN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UHN PowerPoint Template</dc:title>
  <dc:creator>Hertha, Carolyn</dc:creator>
  <cp:revision>896</cp:revision>
  <dcterms:created xsi:type="dcterms:W3CDTF">2025-05-29T15:33:17Z</dcterms:created>
  <dcterms:modified xsi:type="dcterms:W3CDTF">2026-10-13T15:18:09Z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0x010100EAA4AC370B5CB54E81BBBCD5023FE132</vt:lpwstr>
  </property>
  <property fmtid="{D5CDD505-2E9C-101B-9397-08002B2CF9AE}" pid="3" name="MediaServiceImageTags">
    <vt:lpwstr/>
  </property>
  <property fmtid="{D5CDD505-2E9C-101B-9397-08002B2CF9AE}" pid="4" name="Order">
    <vt:r8>745900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